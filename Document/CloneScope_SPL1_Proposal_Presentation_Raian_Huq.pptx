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2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7D82"/>
          </a:solidFill>
          <a:ln>
            <a:solidFill>
              <a:srgbClr val="1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6126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EC7C7"/>
                </a:solidFill>
                <a:latin typeface="Inter"/>
              </a:rPr>
              <a:t>SPL-1 PROJECT PROPOSAL  •  IIT, UNIVERSITY OF DHAKA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603504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Inter Display"/>
              </a:rPr>
              <a:t>CloneScope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76072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EAF2F8"/>
                </a:solidFill>
                <a:latin typeface="Inter Display"/>
              </a:rPr>
              <a:t>An Explainable Code Clone Tagging
and Stylometric Analysis 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834640"/>
            <a:ext cx="54864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B8CAD8"/>
                </a:solidFill>
                <a:latin typeface="Inter"/>
              </a:rPr>
              <a:t>From raw similarity scores to traceable evidence for human review.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456432"/>
            <a:ext cx="1417320" cy="310896"/>
          </a:xfrm>
          <a:prstGeom prst="roundRect">
            <a:avLst/>
          </a:prstGeom>
          <a:solidFill>
            <a:srgbClr val="173B5B"/>
          </a:solidFill>
          <a:ln w="6350">
            <a:solidFill>
              <a:srgbClr val="17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3483863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1" i="0">
                <a:solidFill>
                  <a:srgbClr val="CDE9E8"/>
                </a:solidFill>
                <a:latin typeface="Inter"/>
              </a:rPr>
              <a:t>Software Engineering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85415" y="3456432"/>
            <a:ext cx="1444752" cy="310896"/>
          </a:xfrm>
          <a:prstGeom prst="roundRect">
            <a:avLst/>
          </a:prstGeom>
          <a:solidFill>
            <a:srgbClr val="173B5B"/>
          </a:solidFill>
          <a:ln w="6350">
            <a:solidFill>
              <a:srgbClr val="17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31135" y="3483863"/>
            <a:ext cx="135331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1" i="0">
                <a:solidFill>
                  <a:srgbClr val="CDE9E8"/>
                </a:solidFill>
                <a:latin typeface="Inter"/>
              </a:rPr>
              <a:t>Source-Code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39896" y="3456432"/>
            <a:ext cx="1627632" cy="310896"/>
          </a:xfrm>
          <a:prstGeom prst="roundRect">
            <a:avLst/>
          </a:prstGeom>
          <a:solidFill>
            <a:srgbClr val="173B5B"/>
          </a:solidFill>
          <a:ln w="6350">
            <a:solidFill>
              <a:srgbClr val="17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85615" y="3483863"/>
            <a:ext cx="153619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1" i="0">
                <a:solidFill>
                  <a:srgbClr val="CDE9E8"/>
                </a:solidFill>
                <a:latin typeface="Inter"/>
              </a:rPr>
              <a:t>Educational Technology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77256" y="3456432"/>
            <a:ext cx="1298448" cy="310896"/>
          </a:xfrm>
          <a:prstGeom prst="roundRect">
            <a:avLst/>
          </a:prstGeom>
          <a:solidFill>
            <a:srgbClr val="173B5B"/>
          </a:solidFill>
          <a:ln w="6350">
            <a:solidFill>
              <a:srgbClr val="17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22976" y="3483863"/>
            <a:ext cx="1207007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1" i="0">
                <a:solidFill>
                  <a:srgbClr val="CDE9E8"/>
                </a:solidFill>
                <a:latin typeface="Inter"/>
              </a:rPr>
              <a:t>Program Analytics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96512"/>
            <a:ext cx="5623560" cy="1188720"/>
          </a:xfrm>
          <a:prstGeom prst="roundRect">
            <a:avLst/>
          </a:prstGeom>
          <a:solidFill>
            <a:srgbClr val="14344F"/>
          </a:solidFill>
          <a:ln w="12700">
            <a:solidFill>
              <a:srgbClr val="2751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79392"/>
            <a:ext cx="1005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75C9C5"/>
                </a:solidFill>
                <a:latin typeface="Inter"/>
              </a:rPr>
              <a:t>WHY IT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553712"/>
            <a:ext cx="507492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0" b="0" i="0">
                <a:solidFill>
                  <a:srgbClr val="E7EFF5"/>
                </a:solidFill>
                <a:latin typeface="Inter"/>
              </a:rPr>
              <a:t>Educational code can look similar for legitimate reasons. CloneScope tags the kind of similarity and adds coding-style and statistical evidence before a human reviews the case.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806440"/>
            <a:ext cx="3657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A9BBC8"/>
                </a:solidFill>
                <a:latin typeface="Inter"/>
              </a:rPr>
              <a:t>Raian Huq  •  BSSE1708  •  3rd Semester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108192"/>
            <a:ext cx="5029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199AA"/>
                </a:solidFill>
                <a:latin typeface="Inter"/>
              </a:rPr>
              <a:t>Supervisor: Dr. Kazi Muheymin-Us-Sakib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749808"/>
            <a:ext cx="3657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8EC7C7"/>
                </a:solidFill>
                <a:latin typeface="Inter"/>
              </a:rPr>
              <a:t>EXPLAINABLE EVIDENCE, NOT A VERDICT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86600" y="1325880"/>
            <a:ext cx="2331720" cy="2148840"/>
          </a:xfrm>
          <a:prstGeom prst="roundRect">
            <a:avLst/>
          </a:prstGeom>
          <a:solidFill>
            <a:srgbClr val="172A3A"/>
          </a:solidFill>
          <a:ln w="12700">
            <a:solidFill>
              <a:srgbClr val="35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51192" y="1472184"/>
            <a:ext cx="914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47D82"/>
                </a:solidFill>
                <a:latin typeface="Inter"/>
              </a:rPr>
              <a:t>STUDENT 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51192" y="1810512"/>
            <a:ext cx="1938528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FFFFFF"/>
                </a:solidFill>
                <a:latin typeface="DejaVu Sans Mono"/>
              </a:rPr>
              <a:t>int total = 0;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51192" y="2048256"/>
            <a:ext cx="1938528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B7C8D5"/>
                </a:solidFill>
                <a:latin typeface="DejaVu Sans Mono"/>
              </a:rPr>
              <a:t>for (int i=0; i&lt;n; i++)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51192" y="2286000"/>
            <a:ext cx="1938528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B7C8D5"/>
                </a:solidFill>
                <a:latin typeface="DejaVu Sans Mono"/>
              </a:rPr>
              <a:t>{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51192" y="2523744"/>
            <a:ext cx="1938528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F5D79A"/>
                </a:solidFill>
                <a:latin typeface="DejaVu Sans Mono"/>
              </a:rPr>
              <a:t>  total += a[i];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51192" y="2761487"/>
            <a:ext cx="1938528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B7C8D5"/>
                </a:solidFill>
                <a:latin typeface="DejaVu Sans Mono"/>
              </a:rPr>
              <a:t>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51192" y="2999231"/>
            <a:ext cx="1938528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FFFFFF"/>
                </a:solidFill>
                <a:latin typeface="DejaVu Sans Mono"/>
              </a:rPr>
              <a:t>return total;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98280" y="1828800"/>
            <a:ext cx="2331720" cy="2148840"/>
          </a:xfrm>
          <a:prstGeom prst="roundRect">
            <a:avLst/>
          </a:prstGeom>
          <a:solidFill>
            <a:srgbClr val="172A3A"/>
          </a:solidFill>
          <a:ln w="12700">
            <a:solidFill>
              <a:srgbClr val="355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62872" y="1975104"/>
            <a:ext cx="914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D9911B"/>
                </a:solidFill>
                <a:latin typeface="Inter"/>
              </a:rPr>
              <a:t>STUDENT 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62872" y="2313432"/>
            <a:ext cx="1938528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FFFFFF"/>
                </a:solidFill>
                <a:latin typeface="DejaVu Sans Mono"/>
              </a:rPr>
              <a:t>int total = 0;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62872" y="2551176"/>
            <a:ext cx="1938528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B7C8D5"/>
                </a:solidFill>
                <a:latin typeface="DejaVu Sans Mono"/>
              </a:rPr>
              <a:t>for (int i=0; i&lt;n; i++)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62872" y="2788920"/>
            <a:ext cx="1938528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B7C8D5"/>
                </a:solidFill>
                <a:latin typeface="DejaVu Sans Mono"/>
              </a:rPr>
              <a:t>{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62872" y="3026663"/>
            <a:ext cx="1938528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F5D79A"/>
                </a:solidFill>
                <a:latin typeface="DejaVu Sans Mono"/>
              </a:rPr>
              <a:t>  total += a[i];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62872" y="3264407"/>
            <a:ext cx="1938528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B7C8D5"/>
                </a:solidFill>
                <a:latin typeface="DejaVu Sans Mono"/>
              </a:rPr>
              <a:t>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62872" y="3502151"/>
            <a:ext cx="1938528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FFFFFF"/>
                </a:solidFill>
                <a:latin typeface="DejaVu Sans Mono"/>
              </a:rPr>
              <a:t>return total;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229600" y="3657600"/>
            <a:ext cx="0" cy="502920"/>
          </a:xfrm>
          <a:prstGeom prst="line">
            <a:avLst/>
          </a:prstGeom>
          <a:ln w="20320">
            <a:solidFill>
              <a:srgbClr val="79B9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0241280" y="3977639"/>
            <a:ext cx="0" cy="182881"/>
          </a:xfrm>
          <a:prstGeom prst="line">
            <a:avLst/>
          </a:prstGeom>
          <a:ln w="20320">
            <a:solidFill>
              <a:srgbClr val="D6A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229600" y="4160520"/>
            <a:ext cx="2011680" cy="0"/>
          </a:xfrm>
          <a:prstGeom prst="line">
            <a:avLst/>
          </a:prstGeom>
          <a:ln w="16510">
            <a:solidFill>
              <a:srgbClr val="9FB0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235440" y="4160520"/>
            <a:ext cx="0" cy="283464"/>
          </a:xfrm>
          <a:prstGeom prst="line">
            <a:avLst/>
          </a:prstGeom>
          <a:ln w="16510">
            <a:solidFill>
              <a:srgbClr val="9FB0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7635240" y="4443984"/>
            <a:ext cx="3246120" cy="1234440"/>
          </a:xfrm>
          <a:prstGeom prst="roundRect">
            <a:avLst/>
          </a:prstGeom>
          <a:solidFill>
            <a:srgbClr val="153851"/>
          </a:solidFill>
          <a:ln w="12700">
            <a:solidFill>
              <a:srgbClr val="2A61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45552" y="4599432"/>
            <a:ext cx="2834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1" i="0">
                <a:solidFill>
                  <a:srgbClr val="75C9C5"/>
                </a:solidFill>
                <a:latin typeface="Inter"/>
              </a:rPr>
              <a:t>CLONESCOPE EVIDENCE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82127" y="4956048"/>
            <a:ext cx="786384" cy="310896"/>
          </a:xfrm>
          <a:prstGeom prst="roundRect">
            <a:avLst/>
          </a:prstGeom>
          <a:solidFill>
            <a:srgbClr val="214B63"/>
          </a:solidFill>
          <a:ln w="6350">
            <a:solidFill>
              <a:srgbClr val="214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27848" y="4983480"/>
            <a:ext cx="69494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E5F2F2"/>
                </a:solidFill>
                <a:latin typeface="Inter"/>
              </a:rPr>
              <a:t>CLONE TYPE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759952" y="4956048"/>
            <a:ext cx="694944" cy="310896"/>
          </a:xfrm>
          <a:prstGeom prst="roundRect">
            <a:avLst/>
          </a:prstGeom>
          <a:solidFill>
            <a:srgbClr val="214B63"/>
          </a:solidFill>
          <a:ln w="6350">
            <a:solidFill>
              <a:srgbClr val="214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05672" y="4983480"/>
            <a:ext cx="60350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E5F2F2"/>
                </a:solidFill>
                <a:latin typeface="Inter"/>
              </a:rPr>
              <a:t>STYLE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546336" y="4956048"/>
            <a:ext cx="969264" cy="310896"/>
          </a:xfrm>
          <a:prstGeom prst="roundRect">
            <a:avLst/>
          </a:prstGeom>
          <a:solidFill>
            <a:srgbClr val="214B63"/>
          </a:solidFill>
          <a:ln w="6350">
            <a:solidFill>
              <a:srgbClr val="214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92056" y="4983480"/>
            <a:ext cx="87782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E5F2F2"/>
                </a:solidFill>
                <a:latin typeface="Inter"/>
              </a:rPr>
              <a:t>STATISTICS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09560" y="5367528"/>
            <a:ext cx="2743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 i="0">
                <a:solidFill>
                  <a:srgbClr val="B8CAD8"/>
                </a:solidFill>
                <a:latin typeface="Inter"/>
              </a:rPr>
              <a:t>→ review priority + traceable explanation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96926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02C46"/>
                </a:solidFill>
                <a:latin typeface="Inter Display"/>
              </a:rPr>
              <a:t>Problem Statement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9601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5778A"/>
                </a:solidFill>
                <a:latin typeface="Inter"/>
              </a:rPr>
              <a:t>Why a single similarity percentage is not enough for educational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5029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147D82"/>
                </a:solidFill>
                <a:latin typeface="Inter"/>
              </a:rPr>
              <a:t>02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1082528" cy="0"/>
          </a:xfrm>
          <a:prstGeom prst="line">
            <a:avLst/>
          </a:prstGeom>
          <a:ln w="1016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417320"/>
            <a:ext cx="3337560" cy="3154680"/>
          </a:xfrm>
          <a:prstGeom prst="roundRect">
            <a:avLst/>
          </a:prstGeom>
          <a:solidFill>
            <a:srgbClr val="EAF2F8"/>
          </a:solidFill>
          <a:ln w="15240">
            <a:solidFill>
              <a:srgbClr val="10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1645920"/>
            <a:ext cx="457200" cy="457200"/>
          </a:xfrm>
          <a:prstGeom prst="ellipse">
            <a:avLst/>
          </a:prstGeom>
          <a:solidFill>
            <a:srgbClr val="102C46"/>
          </a:solidFill>
          <a:ln w="6350">
            <a:solidFill>
              <a:srgbClr val="10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28216"/>
            <a:ext cx="4572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1673352"/>
            <a:ext cx="225856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83247"/>
                </a:solidFill>
                <a:latin typeface="Inter Display"/>
              </a:rPr>
              <a:t>Natural similarity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86000"/>
            <a:ext cx="2825496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102C46"/>
                </a:solidFill>
                <a:latin typeface="DejaVu Sans Mono"/>
              </a:rPr>
              <a:t>for (...) { ... }
if (...)  { ... }
return value;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66160"/>
            <a:ext cx="278892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0" i="0">
                <a:solidFill>
                  <a:srgbClr val="183247"/>
                </a:solidFill>
                <a:latin typeface="Inter"/>
              </a:rPr>
              <a:t>Same assignment → shared syntax, APIs, algorithms and common course patterns. Similar-looking code is not automatically suspicious.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417320"/>
            <a:ext cx="3337560" cy="3154680"/>
          </a:xfrm>
          <a:prstGeom prst="roundRect">
            <a:avLst/>
          </a:prstGeom>
          <a:solidFill>
            <a:srgbClr val="FFF4DE"/>
          </a:solidFill>
          <a:ln w="15240">
            <a:solidFill>
              <a:srgbClr val="D991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45152" y="1645920"/>
            <a:ext cx="457200" cy="457200"/>
          </a:xfrm>
          <a:prstGeom prst="ellipse">
            <a:avLst/>
          </a:prstGeom>
          <a:solidFill>
            <a:srgbClr val="D9911B"/>
          </a:solidFill>
          <a:ln w="6350">
            <a:solidFill>
              <a:srgbClr val="D991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1728216"/>
            <a:ext cx="4572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Inter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1673352"/>
            <a:ext cx="225856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83247"/>
                </a:solidFill>
                <a:latin typeface="Inter Display"/>
              </a:rPr>
              <a:t>Raw score problem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2313432"/>
            <a:ext cx="269748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D9911B"/>
                </a:solidFill>
                <a:latin typeface="Inter Display"/>
              </a:rPr>
              <a:t>“78% similar”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2" y="2807208"/>
            <a:ext cx="2697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1">
                <a:solidFill>
                  <a:srgbClr val="65778A"/>
                </a:solidFill>
                <a:latin typeface="Inter"/>
              </a:rPr>
              <a:t>What caused that score?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872" y="3566160"/>
            <a:ext cx="278892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0" i="0">
                <a:solidFill>
                  <a:srgbClr val="183247"/>
                </a:solidFill>
                <a:latin typeface="Inter"/>
              </a:rPr>
              <a:t>A percentage can show “how much” code overlaps, but not why. Common patterns can inflate similarity and create false positives.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93024" y="1417320"/>
            <a:ext cx="3337560" cy="3154680"/>
          </a:xfrm>
          <a:prstGeom prst="roundRect">
            <a:avLst/>
          </a:prstGeom>
          <a:solidFill>
            <a:srgbClr val="E7F4F2"/>
          </a:solidFill>
          <a:ln w="15240">
            <a:solidFill>
              <a:srgbClr val="1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21624" y="1645920"/>
            <a:ext cx="457200" cy="457200"/>
          </a:xfrm>
          <a:prstGeom prst="ellipse">
            <a:avLst/>
          </a:prstGeom>
          <a:solidFill>
            <a:srgbClr val="147D82"/>
          </a:solidFill>
          <a:ln w="6350">
            <a:solidFill>
              <a:srgbClr val="1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21624" y="1728216"/>
            <a:ext cx="4572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Inter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34272" y="1673352"/>
            <a:ext cx="225856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83247"/>
                </a:solidFill>
                <a:latin typeface="Inter Display"/>
              </a:rPr>
              <a:t>What reviewers need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95944" y="2258568"/>
            <a:ext cx="2331720" cy="31089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41664" y="2286000"/>
            <a:ext cx="2240279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1" i="0">
                <a:solidFill>
                  <a:srgbClr val="147D82"/>
                </a:solidFill>
                <a:latin typeface="Inter"/>
              </a:rPr>
              <a:t>Clone type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95944" y="2642616"/>
            <a:ext cx="2331720" cy="31089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41664" y="2670048"/>
            <a:ext cx="2240279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1" i="0">
                <a:solidFill>
                  <a:srgbClr val="147D82"/>
                </a:solidFill>
                <a:latin typeface="Inter"/>
              </a:rPr>
              <a:t>Matched region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95944" y="3026664"/>
            <a:ext cx="2331720" cy="31089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41664" y="3054096"/>
            <a:ext cx="2240279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1" i="0">
                <a:solidFill>
                  <a:srgbClr val="147D82"/>
                </a:solidFill>
                <a:latin typeface="Inter"/>
              </a:rPr>
              <a:t>Pattern commonness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95944" y="3410712"/>
            <a:ext cx="2331720" cy="31089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41664" y="3438144"/>
            <a:ext cx="2240279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1" i="0">
                <a:solidFill>
                  <a:srgbClr val="147D82"/>
                </a:solidFill>
                <a:latin typeface="Inter"/>
              </a:rPr>
              <a:t>Style evidence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67344" y="3566160"/>
            <a:ext cx="278892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0" i="0">
                <a:solidFill>
                  <a:srgbClr val="183247"/>
                </a:solidFill>
                <a:latin typeface="Inter"/>
              </a:rPr>
              <a:t>Locate the fragments, tag the likely clone type, distinguish common patterns, and expose the evidence behind the priority.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919472"/>
            <a:ext cx="6629400" cy="1078992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02352"/>
            <a:ext cx="10972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47D82"/>
                </a:solidFill>
                <a:latin typeface="Inter"/>
              </a:rPr>
              <a:t>TARGET USERS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38528" y="5056632"/>
            <a:ext cx="50749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1" i="0">
                <a:solidFill>
                  <a:srgbClr val="183247"/>
                </a:solidFill>
                <a:latin typeface="Inter"/>
              </a:rPr>
              <a:t>Primary: instructors / educators reviewing programming submissions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38528" y="5413248"/>
            <a:ext cx="5074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5778A"/>
                </a:solidFill>
                <a:latin typeface="Inter"/>
              </a:rPr>
              <a:t>Secondary use: reproducible program-analysis datasets for future research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43800" y="4919472"/>
            <a:ext cx="3986784" cy="1078992"/>
          </a:xfrm>
          <a:prstGeom prst="roundRect">
            <a:avLst/>
          </a:prstGeom>
          <a:solidFill>
            <a:srgbClr val="FBECEC"/>
          </a:solidFill>
          <a:ln w="12700">
            <a:solidFill>
              <a:srgbClr val="C65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0" y="5093208"/>
            <a:ext cx="3520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C65353"/>
                </a:solidFill>
                <a:latin typeface="Inter"/>
              </a:rPr>
              <a:t>HUMAN REVIEW STAYS IN CONTROL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90688" y="5404104"/>
            <a:ext cx="34747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30" b="0" i="0">
                <a:solidFill>
                  <a:srgbClr val="183247"/>
                </a:solidFill>
                <a:latin typeface="Inter"/>
              </a:rPr>
              <a:t>CloneScope produces review evidence — not an automatic plagiarism verdict.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8796A5"/>
                </a:solidFill>
                <a:latin typeface="Inter"/>
              </a:rPr>
              <a:t>CloneScope  •  SPL-1 Project Proposal  •  Raian Huq, BSSE1708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510528"/>
            <a:ext cx="457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8796A5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96926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02C46"/>
                </a:solidFill>
                <a:latin typeface="Inter Display"/>
              </a:rPr>
              <a:t>Proposed 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9601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5778A"/>
                </a:solidFill>
                <a:latin typeface="Inter"/>
              </a:rPr>
              <a:t>End-to-end analysis pipeline from repository input to explainable human-review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5029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147D82"/>
                </a:solidFill>
                <a:latin typeface="Inter"/>
              </a:rPr>
              <a:t>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1082528" cy="0"/>
          </a:xfrm>
          <a:prstGeom prst="line">
            <a:avLst/>
          </a:prstGeom>
          <a:ln w="1016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1417320"/>
            <a:ext cx="2487168" cy="1417320"/>
          </a:xfrm>
          <a:prstGeom prst="roundRect">
            <a:avLst/>
          </a:prstGeom>
          <a:solidFill>
            <a:srgbClr val="EAF2F8"/>
          </a:solidFill>
          <a:ln w="15240">
            <a:solidFill>
              <a:srgbClr val="10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59" y="1572768"/>
            <a:ext cx="438912" cy="310896"/>
          </a:xfrm>
          <a:prstGeom prst="roundRect">
            <a:avLst/>
          </a:prstGeom>
          <a:solidFill>
            <a:srgbClr val="102C46"/>
          </a:solidFill>
          <a:ln w="6350">
            <a:solidFill>
              <a:srgbClr val="10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34747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 i="0">
                <a:solidFill>
                  <a:srgbClr val="FFFFFF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874519"/>
            <a:ext cx="2139696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183247"/>
                </a:solidFill>
                <a:latin typeface="Inter Display"/>
              </a:rPr>
              <a:t>Source Code
Repositories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377440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0" i="0">
                <a:solidFill>
                  <a:srgbClr val="65778A"/>
                </a:solidFill>
                <a:latin typeface="Inter"/>
              </a:rPr>
              <a:t>Local folders first
GitHub after download</a:t>
            </a:r>
          </a:p>
        </p:txBody>
      </p:sp>
      <p:sp>
        <p:nvSpPr>
          <p:cNvPr id="11" name="Chevron 10"/>
          <p:cNvSpPr/>
          <p:nvPr/>
        </p:nvSpPr>
        <p:spPr>
          <a:xfrm>
            <a:off x="3200400" y="1901952"/>
            <a:ext cx="256032" cy="438912"/>
          </a:xfrm>
          <a:prstGeom prst="chevron">
            <a:avLst/>
          </a:prstGeom>
          <a:solidFill>
            <a:srgbClr val="AAB7C2"/>
          </a:solidFill>
          <a:ln w="6350">
            <a:solidFill>
              <a:srgbClr val="AAB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56432" y="1417320"/>
            <a:ext cx="2487168" cy="1417320"/>
          </a:xfrm>
          <a:prstGeom prst="roundRect">
            <a:avLst/>
          </a:prstGeom>
          <a:solidFill>
            <a:srgbClr val="E7F4F2"/>
          </a:solidFill>
          <a:ln w="15240">
            <a:solidFill>
              <a:srgbClr val="1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21024" y="1572768"/>
            <a:ext cx="438912" cy="310896"/>
          </a:xfrm>
          <a:prstGeom prst="roundRect">
            <a:avLst/>
          </a:prstGeom>
          <a:solidFill>
            <a:srgbClr val="147D82"/>
          </a:solidFill>
          <a:ln w="6350">
            <a:solidFill>
              <a:srgbClr val="1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66744" y="1600200"/>
            <a:ext cx="34747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 i="0">
                <a:solidFill>
                  <a:srgbClr val="FFFFFF"/>
                </a:solidFill>
                <a:latin typeface="Inter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1024" y="1874519"/>
            <a:ext cx="2139696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183247"/>
                </a:solidFill>
                <a:latin typeface="Inter Display"/>
              </a:rPr>
              <a:t>Source
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2377440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0" i="0">
                <a:solidFill>
                  <a:srgbClr val="65778A"/>
                </a:solidFill>
                <a:latin typeface="Inter"/>
              </a:rPr>
              <a:t>Metadata • files
line mapping</a:t>
            </a:r>
          </a:p>
        </p:txBody>
      </p:sp>
      <p:sp>
        <p:nvSpPr>
          <p:cNvPr id="17" name="Chevron 16"/>
          <p:cNvSpPr/>
          <p:nvPr/>
        </p:nvSpPr>
        <p:spPr>
          <a:xfrm>
            <a:off x="5998464" y="1901952"/>
            <a:ext cx="256032" cy="438912"/>
          </a:xfrm>
          <a:prstGeom prst="chevron">
            <a:avLst/>
          </a:prstGeom>
          <a:solidFill>
            <a:srgbClr val="AAB7C2"/>
          </a:solidFill>
          <a:ln w="6350">
            <a:solidFill>
              <a:srgbClr val="AAB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54496" y="1417320"/>
            <a:ext cx="2487168" cy="1417320"/>
          </a:xfrm>
          <a:prstGeom prst="roundRect">
            <a:avLst/>
          </a:prstGeom>
          <a:solidFill>
            <a:srgbClr val="E7F4F2"/>
          </a:solidFill>
          <a:ln w="15240">
            <a:solidFill>
              <a:srgbClr val="1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19088" y="1572768"/>
            <a:ext cx="438912" cy="310896"/>
          </a:xfrm>
          <a:prstGeom prst="roundRect">
            <a:avLst/>
          </a:prstGeom>
          <a:solidFill>
            <a:srgbClr val="147D82"/>
          </a:solidFill>
          <a:ln w="6350">
            <a:solidFill>
              <a:srgbClr val="1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7" y="1600200"/>
            <a:ext cx="34747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 i="0">
                <a:solidFill>
                  <a:srgbClr val="FFFFFF"/>
                </a:solidFill>
                <a:latin typeface="Inter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1874519"/>
            <a:ext cx="2139696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183247"/>
                </a:solidFill>
                <a:latin typeface="Inter Display"/>
              </a:rPr>
              <a:t>Normalization
&amp; Tokenization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2377440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0" i="0">
                <a:solidFill>
                  <a:srgbClr val="65778A"/>
                </a:solidFill>
                <a:latin typeface="Inter"/>
              </a:rPr>
              <a:t>Clean text • tokens
function / block units</a:t>
            </a:r>
          </a:p>
        </p:txBody>
      </p:sp>
      <p:sp>
        <p:nvSpPr>
          <p:cNvPr id="23" name="Chevron 22"/>
          <p:cNvSpPr/>
          <p:nvPr/>
        </p:nvSpPr>
        <p:spPr>
          <a:xfrm>
            <a:off x="8796528" y="1901952"/>
            <a:ext cx="256032" cy="438912"/>
          </a:xfrm>
          <a:prstGeom prst="chevron">
            <a:avLst/>
          </a:prstGeom>
          <a:solidFill>
            <a:srgbClr val="AAB7C2"/>
          </a:solidFill>
          <a:ln w="6350">
            <a:solidFill>
              <a:srgbClr val="AAB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052560" y="1417320"/>
            <a:ext cx="2487168" cy="1417320"/>
          </a:xfrm>
          <a:prstGeom prst="roundRect">
            <a:avLst/>
          </a:prstGeom>
          <a:solidFill>
            <a:srgbClr val="FFF4DE"/>
          </a:solidFill>
          <a:ln w="15240">
            <a:solidFill>
              <a:srgbClr val="D991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17152" y="1572768"/>
            <a:ext cx="438912" cy="310896"/>
          </a:xfrm>
          <a:prstGeom prst="roundRect">
            <a:avLst/>
          </a:prstGeom>
          <a:solidFill>
            <a:srgbClr val="D9911B"/>
          </a:solidFill>
          <a:ln w="6350">
            <a:solidFill>
              <a:srgbClr val="D991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62872" y="1600200"/>
            <a:ext cx="34747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 i="0">
                <a:solidFill>
                  <a:srgbClr val="FFFFFF"/>
                </a:solidFill>
                <a:latin typeface="Inter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7152" y="1874519"/>
            <a:ext cx="2139696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183247"/>
                </a:solidFill>
                <a:latin typeface="Inter Display"/>
              </a:rPr>
              <a:t>Clone Detection
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377440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0" i="0">
                <a:solidFill>
                  <a:srgbClr val="65778A"/>
                </a:solidFill>
                <a:latin typeface="Inter"/>
              </a:rPr>
              <a:t>Type-1 • Type-2 • Type-3
Restricted Type-4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296144" y="2852928"/>
            <a:ext cx="0" cy="475488"/>
          </a:xfrm>
          <a:prstGeom prst="line">
            <a:avLst/>
          </a:prstGeom>
          <a:ln w="25400">
            <a:solidFill>
              <a:srgbClr val="D991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Down Arrow 29"/>
          <p:cNvSpPr/>
          <p:nvPr/>
        </p:nvSpPr>
        <p:spPr>
          <a:xfrm>
            <a:off x="10131552" y="3154680"/>
            <a:ext cx="329184" cy="411480"/>
          </a:xfrm>
          <a:prstGeom prst="downArrow">
            <a:avLst/>
          </a:prstGeom>
          <a:solidFill>
            <a:srgbClr val="D9911B"/>
          </a:solidFill>
          <a:ln>
            <a:solidFill>
              <a:srgbClr val="D991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8368" y="3493008"/>
            <a:ext cx="2487168" cy="1481328"/>
          </a:xfrm>
          <a:prstGeom prst="roundRect">
            <a:avLst/>
          </a:prstGeom>
          <a:solidFill>
            <a:srgbClr val="EAF5EF"/>
          </a:solidFill>
          <a:ln w="15240">
            <a:solidFill>
              <a:srgbClr val="2E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2959" y="3648456"/>
            <a:ext cx="438912" cy="310896"/>
          </a:xfrm>
          <a:prstGeom prst="roundRect">
            <a:avLst/>
          </a:prstGeom>
          <a:solidFill>
            <a:srgbClr val="2E7D5B"/>
          </a:solidFill>
          <a:ln w="6350">
            <a:solidFill>
              <a:srgbClr val="2E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3675888"/>
            <a:ext cx="34747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 i="0">
                <a:solidFill>
                  <a:srgbClr val="FFFFFF"/>
                </a:solidFill>
                <a:latin typeface="Inter"/>
              </a:rP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" y="3941063"/>
            <a:ext cx="2139696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0" b="1" i="0">
                <a:solidFill>
                  <a:srgbClr val="183247"/>
                </a:solidFill>
                <a:latin typeface="Inter Display"/>
              </a:rPr>
              <a:t>Explainable Report
+ Dataset Export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7" y="4462272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65778A"/>
                </a:solidFill>
                <a:latin typeface="Inter"/>
              </a:rPr>
              <a:t>review queue • CSV/JSON
traceable evidence</a:t>
            </a:r>
          </a:p>
        </p:txBody>
      </p:sp>
      <p:sp>
        <p:nvSpPr>
          <p:cNvPr id="36" name="Chevron 35"/>
          <p:cNvSpPr/>
          <p:nvPr/>
        </p:nvSpPr>
        <p:spPr>
          <a:xfrm rot="10800000">
            <a:off x="3200400" y="3977639"/>
            <a:ext cx="256032" cy="438912"/>
          </a:xfrm>
          <a:prstGeom prst="chevron">
            <a:avLst/>
          </a:prstGeom>
          <a:solidFill>
            <a:srgbClr val="AAB7C2"/>
          </a:solidFill>
          <a:ln w="6350">
            <a:solidFill>
              <a:srgbClr val="AAB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456432" y="3493008"/>
            <a:ext cx="2487168" cy="1481328"/>
          </a:xfrm>
          <a:prstGeom prst="roundRect">
            <a:avLst/>
          </a:prstGeom>
          <a:solidFill>
            <a:srgbClr val="E7F4F2"/>
          </a:solidFill>
          <a:ln w="15240">
            <a:solidFill>
              <a:srgbClr val="1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621024" y="3648456"/>
            <a:ext cx="438912" cy="310896"/>
          </a:xfrm>
          <a:prstGeom prst="roundRect">
            <a:avLst/>
          </a:prstGeom>
          <a:solidFill>
            <a:srgbClr val="147D82"/>
          </a:solidFill>
          <a:ln w="6350">
            <a:solidFill>
              <a:srgbClr val="1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66744" y="3675888"/>
            <a:ext cx="34747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 i="0">
                <a:solidFill>
                  <a:srgbClr val="FFFFFF"/>
                </a:solidFill>
                <a:latin typeface="Inter"/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21024" y="3941063"/>
            <a:ext cx="2139696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0" b="1" i="0">
                <a:solidFill>
                  <a:srgbClr val="183247"/>
                </a:solidFill>
                <a:latin typeface="Inter Display"/>
              </a:rPr>
              <a:t>Statistics &amp;
Evidence Fusion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39312" y="4462272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65778A"/>
                </a:solidFill>
                <a:latin typeface="Inter"/>
              </a:rPr>
              <a:t>student-wise • pairwise
review priority</a:t>
            </a:r>
          </a:p>
        </p:txBody>
      </p:sp>
      <p:sp>
        <p:nvSpPr>
          <p:cNvPr id="42" name="Chevron 41"/>
          <p:cNvSpPr/>
          <p:nvPr/>
        </p:nvSpPr>
        <p:spPr>
          <a:xfrm rot="10800000">
            <a:off x="5998464" y="3977639"/>
            <a:ext cx="256032" cy="438912"/>
          </a:xfrm>
          <a:prstGeom prst="chevron">
            <a:avLst/>
          </a:prstGeom>
          <a:solidFill>
            <a:srgbClr val="AAB7C2"/>
          </a:solidFill>
          <a:ln w="6350">
            <a:solidFill>
              <a:srgbClr val="AAB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254496" y="3493008"/>
            <a:ext cx="2487168" cy="1481328"/>
          </a:xfrm>
          <a:prstGeom prst="roundRect">
            <a:avLst/>
          </a:prstGeom>
          <a:solidFill>
            <a:srgbClr val="E7F4F2"/>
          </a:solidFill>
          <a:ln w="15240">
            <a:solidFill>
              <a:srgbClr val="1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419088" y="3648456"/>
            <a:ext cx="438912" cy="310896"/>
          </a:xfrm>
          <a:prstGeom prst="roundRect">
            <a:avLst/>
          </a:prstGeom>
          <a:solidFill>
            <a:srgbClr val="147D82"/>
          </a:solidFill>
          <a:ln w="6350">
            <a:solidFill>
              <a:srgbClr val="1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64807" y="3675888"/>
            <a:ext cx="34747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 i="0">
                <a:solidFill>
                  <a:srgbClr val="FFFFFF"/>
                </a:solidFill>
                <a:latin typeface="Inter"/>
              </a:rPr>
              <a:t>06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19088" y="3941063"/>
            <a:ext cx="2139696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0" b="1" i="0">
                <a:solidFill>
                  <a:srgbClr val="183247"/>
                </a:solidFill>
                <a:latin typeface="Inter Display"/>
              </a:rPr>
              <a:t>Stylometric
Analysis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37376" y="4462272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65778A"/>
                </a:solidFill>
                <a:latin typeface="Inter"/>
              </a:rPr>
              <a:t>naming • formatting
lexical • structural</a:t>
            </a:r>
          </a:p>
        </p:txBody>
      </p:sp>
      <p:sp>
        <p:nvSpPr>
          <p:cNvPr id="48" name="Chevron 47"/>
          <p:cNvSpPr/>
          <p:nvPr/>
        </p:nvSpPr>
        <p:spPr>
          <a:xfrm rot="10800000">
            <a:off x="8796528" y="3977639"/>
            <a:ext cx="256032" cy="438912"/>
          </a:xfrm>
          <a:prstGeom prst="chevron">
            <a:avLst/>
          </a:prstGeom>
          <a:solidFill>
            <a:srgbClr val="AAB7C2"/>
          </a:solidFill>
          <a:ln w="6350">
            <a:solidFill>
              <a:srgbClr val="AAB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052560" y="3493008"/>
            <a:ext cx="2487168" cy="1481328"/>
          </a:xfrm>
          <a:prstGeom prst="roundRect">
            <a:avLst/>
          </a:prstGeom>
          <a:solidFill>
            <a:srgbClr val="FFF4DE"/>
          </a:solidFill>
          <a:ln w="15240">
            <a:solidFill>
              <a:srgbClr val="D991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217152" y="3648456"/>
            <a:ext cx="438912" cy="310896"/>
          </a:xfrm>
          <a:prstGeom prst="roundRect">
            <a:avLst/>
          </a:prstGeom>
          <a:solidFill>
            <a:srgbClr val="D9911B"/>
          </a:solidFill>
          <a:ln w="6350">
            <a:solidFill>
              <a:srgbClr val="D991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62872" y="3675888"/>
            <a:ext cx="34747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 i="0">
                <a:solidFill>
                  <a:srgbClr val="FFFFFF"/>
                </a:solidFill>
                <a:latin typeface="Inter"/>
              </a:rPr>
              <a:t>05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17152" y="3941063"/>
            <a:ext cx="2139696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0" b="1" i="0">
                <a:solidFill>
                  <a:srgbClr val="183247"/>
                </a:solidFill>
                <a:latin typeface="Inter Display"/>
              </a:rPr>
              <a:t>Clone
Tagging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35440" y="4462272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65778A"/>
                </a:solidFill>
                <a:latin typeface="Inter"/>
              </a:rPr>
              <a:t>type • score • locations
matched fragment • status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58368" y="5330952"/>
            <a:ext cx="10881360" cy="713232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8680" y="5522976"/>
            <a:ext cx="2057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47D82"/>
                </a:solidFill>
                <a:latin typeface="Inter"/>
              </a:rPr>
              <a:t>DESIGN PRINCIPLES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487168" y="5477256"/>
            <a:ext cx="87325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10" b="0" i="0">
                <a:solidFill>
                  <a:srgbClr val="183247"/>
                </a:solidFill>
                <a:latin typeface="Inter"/>
              </a:rPr>
              <a:t>Component scores stay visible  •  common patterns are down-weighted  •  Type-4 remains restricted  •  final decision is human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8796A5"/>
                </a:solidFill>
                <a:latin typeface="Inter"/>
              </a:rPr>
              <a:t>CloneScope  •  SPL-1 Project Proposal  •  Raian Huq, BSSE1708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55680" y="6510528"/>
            <a:ext cx="457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8796A5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96926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02C46"/>
                </a:solidFill>
                <a:latin typeface="Inter Display"/>
              </a:rPr>
              <a:t>Core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9601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5778A"/>
                </a:solidFill>
                <a:latin typeface="Inter"/>
              </a:rPr>
              <a:t>Three evidence layers work together while remaining independently interpretable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5029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147D82"/>
                </a:solidFill>
                <a:latin typeface="Inter"/>
              </a:rPr>
              <a:t>04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1082528" cy="0"/>
          </a:xfrm>
          <a:prstGeom prst="line">
            <a:avLst/>
          </a:prstGeom>
          <a:ln w="1016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1417320"/>
            <a:ext cx="3246120" cy="4315968"/>
          </a:xfrm>
          <a:prstGeom prst="roundRect">
            <a:avLst/>
          </a:prstGeom>
          <a:solidFill>
            <a:srgbClr val="EAF2F8"/>
          </a:solidFill>
          <a:ln w="15240">
            <a:solidFill>
              <a:srgbClr val="10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86968" y="1645920"/>
            <a:ext cx="530352" cy="530352"/>
          </a:xfrm>
          <a:prstGeom prst="ellipse">
            <a:avLst/>
          </a:prstGeom>
          <a:solidFill>
            <a:srgbClr val="102C46"/>
          </a:solidFill>
          <a:ln w="6350">
            <a:solidFill>
              <a:srgbClr val="10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764792"/>
            <a:ext cx="53035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DejaVu Sans Mono"/>
              </a:rPr>
              <a:t>&lt;/&gt;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645920"/>
            <a:ext cx="205740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1" i="0">
                <a:solidFill>
                  <a:srgbClr val="183247"/>
                </a:solidFill>
                <a:latin typeface="Inter Display"/>
              </a:rPr>
              <a:t>CLONE DETECTION &amp; TAGGING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423160"/>
            <a:ext cx="64008" cy="64008"/>
          </a:xfrm>
          <a:prstGeom prst="ellipse">
            <a:avLst/>
          </a:prstGeom>
          <a:solidFill>
            <a:srgbClr val="102C46"/>
          </a:solidFill>
          <a:ln w="6350">
            <a:solidFill>
              <a:srgbClr val="10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331720"/>
            <a:ext cx="2542032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70" b="0" i="0">
                <a:solidFill>
                  <a:srgbClr val="183247"/>
                </a:solidFill>
                <a:latin typeface="Inter"/>
              </a:rPr>
              <a:t>Type-1: normalized exact matches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3026664"/>
            <a:ext cx="64008" cy="64008"/>
          </a:xfrm>
          <a:prstGeom prst="ellipse">
            <a:avLst/>
          </a:prstGeom>
          <a:solidFill>
            <a:srgbClr val="102C46"/>
          </a:solidFill>
          <a:ln w="6350">
            <a:solidFill>
              <a:srgbClr val="10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935224"/>
            <a:ext cx="2542032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70" b="0" i="0">
                <a:solidFill>
                  <a:srgbClr val="183247"/>
                </a:solidFill>
                <a:latin typeface="Inter"/>
              </a:rPr>
              <a:t>Type-2: consistent renaming matches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3630168"/>
            <a:ext cx="64008" cy="64008"/>
          </a:xfrm>
          <a:prstGeom prst="ellipse">
            <a:avLst/>
          </a:prstGeom>
          <a:solidFill>
            <a:srgbClr val="102C46"/>
          </a:solidFill>
          <a:ln w="6350">
            <a:solidFill>
              <a:srgbClr val="10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538728"/>
            <a:ext cx="2542032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70" b="0" i="0">
                <a:solidFill>
                  <a:srgbClr val="183247"/>
                </a:solidFill>
                <a:latin typeface="Inter"/>
              </a:rPr>
              <a:t>Type-3: edited near-miss similarity</a:t>
            </a:r>
          </a:p>
        </p:txBody>
      </p:sp>
      <p:sp>
        <p:nvSpPr>
          <p:cNvPr id="16" name="Oval 15"/>
          <p:cNvSpPr/>
          <p:nvPr/>
        </p:nvSpPr>
        <p:spPr>
          <a:xfrm>
            <a:off x="932688" y="4233672"/>
            <a:ext cx="64008" cy="64008"/>
          </a:xfrm>
          <a:prstGeom prst="ellipse">
            <a:avLst/>
          </a:prstGeom>
          <a:solidFill>
            <a:srgbClr val="102C46"/>
          </a:solidFill>
          <a:ln w="6350">
            <a:solidFill>
              <a:srgbClr val="10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142232"/>
            <a:ext cx="2542032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70" b="0" i="0">
                <a:solidFill>
                  <a:srgbClr val="183247"/>
                </a:solidFill>
                <a:latin typeface="Inter"/>
              </a:rPr>
              <a:t>Restricted Type-4 candidate screening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4837176"/>
            <a:ext cx="64008" cy="64008"/>
          </a:xfrm>
          <a:prstGeom prst="ellipse">
            <a:avLst/>
          </a:prstGeom>
          <a:solidFill>
            <a:srgbClr val="102C46"/>
          </a:solidFill>
          <a:ln w="6350">
            <a:solidFill>
              <a:srgbClr val="10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745736"/>
            <a:ext cx="2542032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70" b="0" i="0">
                <a:solidFill>
                  <a:srgbClr val="183247"/>
                </a:solidFill>
                <a:latin typeface="Inter"/>
              </a:rPr>
              <a:t>Evidence tag: type, score, locations, fragment, review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0" y="1417320"/>
            <a:ext cx="3246120" cy="4315968"/>
          </a:xfrm>
          <a:prstGeom prst="roundRect">
            <a:avLst/>
          </a:prstGeom>
          <a:solidFill>
            <a:srgbClr val="E7F4F2"/>
          </a:solidFill>
          <a:ln w="15240">
            <a:solidFill>
              <a:srgbClr val="1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343400" y="1645920"/>
            <a:ext cx="530352" cy="530352"/>
          </a:xfrm>
          <a:prstGeom prst="ellipse">
            <a:avLst/>
          </a:prstGeom>
          <a:solidFill>
            <a:srgbClr val="147D82"/>
          </a:solidFill>
          <a:ln w="6350">
            <a:solidFill>
              <a:srgbClr val="1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400" y="1764792"/>
            <a:ext cx="53035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DejaVu Sans Mono"/>
              </a:rPr>
              <a:t>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10912" y="1645920"/>
            <a:ext cx="205740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1" i="0">
                <a:solidFill>
                  <a:srgbClr val="183247"/>
                </a:solidFill>
                <a:latin typeface="Inter Display"/>
              </a:rPr>
              <a:t>STYLOMETRIC ANALYSIS</a:t>
            </a:r>
          </a:p>
        </p:txBody>
      </p:sp>
      <p:sp>
        <p:nvSpPr>
          <p:cNvPr id="24" name="Oval 23"/>
          <p:cNvSpPr/>
          <p:nvPr/>
        </p:nvSpPr>
        <p:spPr>
          <a:xfrm>
            <a:off x="4389120" y="2423160"/>
            <a:ext cx="64008" cy="64008"/>
          </a:xfrm>
          <a:prstGeom prst="ellipse">
            <a:avLst/>
          </a:prstGeom>
          <a:solidFill>
            <a:srgbClr val="147D82"/>
          </a:solidFill>
          <a:ln w="6350">
            <a:solidFill>
              <a:srgbClr val="1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53712" y="2331720"/>
            <a:ext cx="2542032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70" b="0" i="0">
                <a:solidFill>
                  <a:srgbClr val="183247"/>
                </a:solidFill>
                <a:latin typeface="Inter"/>
              </a:rPr>
              <a:t>Naming patterns and identifier habits</a:t>
            </a:r>
          </a:p>
        </p:txBody>
      </p:sp>
      <p:sp>
        <p:nvSpPr>
          <p:cNvPr id="26" name="Oval 25"/>
          <p:cNvSpPr/>
          <p:nvPr/>
        </p:nvSpPr>
        <p:spPr>
          <a:xfrm>
            <a:off x="4389120" y="3026664"/>
            <a:ext cx="64008" cy="64008"/>
          </a:xfrm>
          <a:prstGeom prst="ellipse">
            <a:avLst/>
          </a:prstGeom>
          <a:solidFill>
            <a:srgbClr val="147D82"/>
          </a:solidFill>
          <a:ln w="6350">
            <a:solidFill>
              <a:srgbClr val="1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53712" y="2935224"/>
            <a:ext cx="2542032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70" b="0" i="0">
                <a:solidFill>
                  <a:srgbClr val="183247"/>
                </a:solidFill>
                <a:latin typeface="Inter"/>
              </a:rPr>
              <a:t>Formatting and brace / indentation style</a:t>
            </a:r>
          </a:p>
        </p:txBody>
      </p:sp>
      <p:sp>
        <p:nvSpPr>
          <p:cNvPr id="28" name="Oval 27"/>
          <p:cNvSpPr/>
          <p:nvPr/>
        </p:nvSpPr>
        <p:spPr>
          <a:xfrm>
            <a:off x="4389120" y="3630168"/>
            <a:ext cx="64008" cy="64008"/>
          </a:xfrm>
          <a:prstGeom prst="ellipse">
            <a:avLst/>
          </a:prstGeom>
          <a:solidFill>
            <a:srgbClr val="147D82"/>
          </a:solidFill>
          <a:ln w="6350">
            <a:solidFill>
              <a:srgbClr val="1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53712" y="3538728"/>
            <a:ext cx="2542032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70" b="0" i="0">
                <a:solidFill>
                  <a:srgbClr val="183247"/>
                </a:solidFill>
                <a:latin typeface="Inter"/>
              </a:rPr>
              <a:t>Lexical preferences and operator usage</a:t>
            </a:r>
          </a:p>
        </p:txBody>
      </p:sp>
      <p:sp>
        <p:nvSpPr>
          <p:cNvPr id="30" name="Oval 29"/>
          <p:cNvSpPr/>
          <p:nvPr/>
        </p:nvSpPr>
        <p:spPr>
          <a:xfrm>
            <a:off x="4389120" y="4233672"/>
            <a:ext cx="64008" cy="64008"/>
          </a:xfrm>
          <a:prstGeom prst="ellipse">
            <a:avLst/>
          </a:prstGeom>
          <a:solidFill>
            <a:srgbClr val="147D82"/>
          </a:solidFill>
          <a:ln w="6350">
            <a:solidFill>
              <a:srgbClr val="1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53712" y="4142232"/>
            <a:ext cx="2542032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70" b="0" i="0">
                <a:solidFill>
                  <a:srgbClr val="183247"/>
                </a:solidFill>
                <a:latin typeface="Inter"/>
              </a:rPr>
              <a:t>Structural habits: function size, nesting, control-flow tendencies</a:t>
            </a:r>
          </a:p>
        </p:txBody>
      </p:sp>
      <p:sp>
        <p:nvSpPr>
          <p:cNvPr id="32" name="Oval 31"/>
          <p:cNvSpPr/>
          <p:nvPr/>
        </p:nvSpPr>
        <p:spPr>
          <a:xfrm>
            <a:off x="4389120" y="4837176"/>
            <a:ext cx="64008" cy="64008"/>
          </a:xfrm>
          <a:prstGeom prst="ellipse">
            <a:avLst/>
          </a:prstGeom>
          <a:solidFill>
            <a:srgbClr val="147D82"/>
          </a:solidFill>
          <a:ln w="6350">
            <a:solidFill>
              <a:srgbClr val="1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53712" y="4745736"/>
            <a:ext cx="2542032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70" b="0" i="0">
                <a:solidFill>
                  <a:srgbClr val="183247"/>
                </a:solidFill>
                <a:latin typeface="Inter"/>
              </a:rPr>
              <a:t>Within-student consistency vs cross-student variation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71231" y="1417320"/>
            <a:ext cx="3246120" cy="4315968"/>
          </a:xfrm>
          <a:prstGeom prst="roundRect">
            <a:avLst/>
          </a:prstGeom>
          <a:solidFill>
            <a:srgbClr val="FFF4DE"/>
          </a:solidFill>
          <a:ln w="15240">
            <a:solidFill>
              <a:srgbClr val="D991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799831" y="1645920"/>
            <a:ext cx="530352" cy="530352"/>
          </a:xfrm>
          <a:prstGeom prst="ellipse">
            <a:avLst/>
          </a:prstGeom>
          <a:solidFill>
            <a:srgbClr val="D9911B"/>
          </a:solidFill>
          <a:ln w="6350">
            <a:solidFill>
              <a:srgbClr val="D991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99831" y="1764792"/>
            <a:ext cx="53035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DejaVu Sans Mono"/>
              </a:rPr>
              <a:t>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67344" y="1645920"/>
            <a:ext cx="205740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1" i="0">
                <a:solidFill>
                  <a:srgbClr val="183247"/>
                </a:solidFill>
                <a:latin typeface="Inter Display"/>
              </a:rPr>
              <a:t>ANALYTICS &amp; REVIEW</a:t>
            </a:r>
          </a:p>
        </p:txBody>
      </p:sp>
      <p:sp>
        <p:nvSpPr>
          <p:cNvPr id="38" name="Oval 37"/>
          <p:cNvSpPr/>
          <p:nvPr/>
        </p:nvSpPr>
        <p:spPr>
          <a:xfrm>
            <a:off x="7845552" y="2423160"/>
            <a:ext cx="64008" cy="64008"/>
          </a:xfrm>
          <a:prstGeom prst="ellipse">
            <a:avLst/>
          </a:prstGeom>
          <a:solidFill>
            <a:srgbClr val="D9911B"/>
          </a:solidFill>
          <a:ln w="6350">
            <a:solidFill>
              <a:srgbClr val="D991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10144" y="2331720"/>
            <a:ext cx="2542032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70" b="0" i="0">
                <a:solidFill>
                  <a:srgbClr val="183247"/>
                </a:solidFill>
                <a:latin typeface="Inter"/>
              </a:rPr>
              <a:t>Student-wise clone statistics</a:t>
            </a:r>
          </a:p>
        </p:txBody>
      </p:sp>
      <p:sp>
        <p:nvSpPr>
          <p:cNvPr id="40" name="Oval 39"/>
          <p:cNvSpPr/>
          <p:nvPr/>
        </p:nvSpPr>
        <p:spPr>
          <a:xfrm>
            <a:off x="7845552" y="3026664"/>
            <a:ext cx="64008" cy="64008"/>
          </a:xfrm>
          <a:prstGeom prst="ellipse">
            <a:avLst/>
          </a:prstGeom>
          <a:solidFill>
            <a:srgbClr val="D9911B"/>
          </a:solidFill>
          <a:ln w="6350">
            <a:solidFill>
              <a:srgbClr val="D991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10144" y="2935224"/>
            <a:ext cx="2542032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70" b="0" i="0">
                <a:solidFill>
                  <a:srgbClr val="183247"/>
                </a:solidFill>
                <a:latin typeface="Inter"/>
              </a:rPr>
              <a:t>Pairwise student comparison</a:t>
            </a:r>
          </a:p>
        </p:txBody>
      </p:sp>
      <p:sp>
        <p:nvSpPr>
          <p:cNvPr id="42" name="Oval 41"/>
          <p:cNvSpPr/>
          <p:nvPr/>
        </p:nvSpPr>
        <p:spPr>
          <a:xfrm>
            <a:off x="7845552" y="3630168"/>
            <a:ext cx="64008" cy="64008"/>
          </a:xfrm>
          <a:prstGeom prst="ellipse">
            <a:avLst/>
          </a:prstGeom>
          <a:solidFill>
            <a:srgbClr val="D9911B"/>
          </a:solidFill>
          <a:ln w="6350">
            <a:solidFill>
              <a:srgbClr val="D991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10144" y="3538728"/>
            <a:ext cx="2542032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70" b="0" i="0">
                <a:solidFill>
                  <a:srgbClr val="183247"/>
                </a:solidFill>
                <a:latin typeface="Inter"/>
              </a:rPr>
              <a:t>Clone-type distribution and coverage</a:t>
            </a:r>
          </a:p>
        </p:txBody>
      </p:sp>
      <p:sp>
        <p:nvSpPr>
          <p:cNvPr id="44" name="Oval 43"/>
          <p:cNvSpPr/>
          <p:nvPr/>
        </p:nvSpPr>
        <p:spPr>
          <a:xfrm>
            <a:off x="7845552" y="4233672"/>
            <a:ext cx="64008" cy="64008"/>
          </a:xfrm>
          <a:prstGeom prst="ellipse">
            <a:avLst/>
          </a:prstGeom>
          <a:solidFill>
            <a:srgbClr val="D9911B"/>
          </a:solidFill>
          <a:ln w="6350">
            <a:solidFill>
              <a:srgbClr val="D991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10144" y="4142232"/>
            <a:ext cx="2542032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70" b="0" i="0">
                <a:solidFill>
                  <a:srgbClr val="183247"/>
                </a:solidFill>
                <a:latin typeface="Inter"/>
              </a:rPr>
              <a:t>Common-pattern suppression / rarity evidence</a:t>
            </a:r>
          </a:p>
        </p:txBody>
      </p:sp>
      <p:sp>
        <p:nvSpPr>
          <p:cNvPr id="46" name="Oval 45"/>
          <p:cNvSpPr/>
          <p:nvPr/>
        </p:nvSpPr>
        <p:spPr>
          <a:xfrm>
            <a:off x="7845552" y="4837176"/>
            <a:ext cx="64008" cy="64008"/>
          </a:xfrm>
          <a:prstGeom prst="ellipse">
            <a:avLst/>
          </a:prstGeom>
          <a:solidFill>
            <a:srgbClr val="D9911B"/>
          </a:solidFill>
          <a:ln w="6350">
            <a:solidFill>
              <a:srgbClr val="D991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10144" y="4745736"/>
            <a:ext cx="2542032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70" b="0" i="0">
                <a:solidFill>
                  <a:srgbClr val="183247"/>
                </a:solidFill>
                <a:latin typeface="Inter"/>
              </a:rPr>
              <a:t>Transparent review-priority index with component evidence visible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463040" y="5925312"/>
            <a:ext cx="9235440" cy="438912"/>
          </a:xfrm>
          <a:prstGeom prst="roundRect">
            <a:avLst/>
          </a:prstGeom>
          <a:solidFill>
            <a:srgbClr val="F8FAFC"/>
          </a:solidFill>
          <a:ln w="889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664208" y="6025896"/>
            <a:ext cx="88239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40" b="1" i="0">
                <a:solidFill>
                  <a:srgbClr val="102C46"/>
                </a:solidFill>
                <a:latin typeface="Inter"/>
              </a:rPr>
              <a:t>OUTPUT PHILOSOPHY  →  prioritize cases for inspection; never convert evidence into an automatic plagiarism accusation.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8796A5"/>
                </a:solidFill>
                <a:latin typeface="Inter"/>
              </a:rPr>
              <a:t>CloneScope  •  SPL-1 Project Proposal  •  Raian Huq, BSSE1708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155680" y="6510528"/>
            <a:ext cx="457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8796A5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96926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02C46"/>
                </a:solidFill>
                <a:latin typeface="Inter Display"/>
              </a:rPr>
              <a:t>Implementation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9601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5778A"/>
                </a:solidFill>
                <a:latin typeface="Inter"/>
              </a:rPr>
              <a:t>A staged build: make the source representation reliable first, then add increasingly richer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5029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147D82"/>
                </a:solidFill>
                <a:latin typeface="Inter"/>
              </a:rPr>
              <a:t>05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1082528" cy="0"/>
          </a:xfrm>
          <a:prstGeom prst="line">
            <a:avLst/>
          </a:prstGeom>
          <a:ln w="1016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" y="1965960"/>
            <a:ext cx="10149840" cy="0"/>
          </a:xfrm>
          <a:prstGeom prst="line">
            <a:avLst/>
          </a:prstGeom>
          <a:ln w="25400">
            <a:solidFill>
              <a:srgbClr val="B9C6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536192" y="1682496"/>
            <a:ext cx="566928" cy="566928"/>
          </a:xfrm>
          <a:prstGeom prst="ellipse">
            <a:avLst/>
          </a:prstGeom>
          <a:solidFill>
            <a:srgbClr val="147D82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36192" y="1847088"/>
            <a:ext cx="56692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1" i="0">
                <a:solidFill>
                  <a:srgbClr val="FFFFFF"/>
                </a:solidFill>
                <a:latin typeface="Inter"/>
              </a:rP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331720"/>
            <a:ext cx="1719072" cy="2944368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1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6424" y="2532888"/>
            <a:ext cx="1426464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40" b="1" i="0">
                <a:solidFill>
                  <a:srgbClr val="183247"/>
                </a:solidFill>
                <a:latin typeface="Inter Display"/>
              </a:rPr>
              <a:t>Input &amp;
Preprocessing</a:t>
            </a:r>
          </a:p>
        </p:txBody>
      </p:sp>
      <p:sp>
        <p:nvSpPr>
          <p:cNvPr id="11" name="Oval 10"/>
          <p:cNvSpPr/>
          <p:nvPr/>
        </p:nvSpPr>
        <p:spPr>
          <a:xfrm>
            <a:off x="1124712" y="3328415"/>
            <a:ext cx="54864" cy="54864"/>
          </a:xfrm>
          <a:prstGeom prst="ellipse">
            <a:avLst/>
          </a:prstGeom>
          <a:solidFill>
            <a:srgbClr val="147D82"/>
          </a:solidFill>
          <a:ln w="6350">
            <a:solidFill>
              <a:srgbClr val="1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71016" y="3246120"/>
            <a:ext cx="1261872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83247"/>
                </a:solidFill>
                <a:latin typeface="Inter"/>
              </a:rPr>
              <a:t>Folder/repository loader</a:t>
            </a:r>
          </a:p>
        </p:txBody>
      </p:sp>
      <p:sp>
        <p:nvSpPr>
          <p:cNvPr id="13" name="Oval 12"/>
          <p:cNvSpPr/>
          <p:nvPr/>
        </p:nvSpPr>
        <p:spPr>
          <a:xfrm>
            <a:off x="1124712" y="3858768"/>
            <a:ext cx="54864" cy="54864"/>
          </a:xfrm>
          <a:prstGeom prst="ellipse">
            <a:avLst/>
          </a:prstGeom>
          <a:solidFill>
            <a:srgbClr val="147D82"/>
          </a:solidFill>
          <a:ln w="6350">
            <a:solidFill>
              <a:srgbClr val="1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71016" y="3776472"/>
            <a:ext cx="1261872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83247"/>
                </a:solidFill>
                <a:latin typeface="Inter"/>
              </a:rPr>
              <a:t>Safe scanner + line mapping</a:t>
            </a:r>
          </a:p>
        </p:txBody>
      </p:sp>
      <p:sp>
        <p:nvSpPr>
          <p:cNvPr id="15" name="Oval 14"/>
          <p:cNvSpPr/>
          <p:nvPr/>
        </p:nvSpPr>
        <p:spPr>
          <a:xfrm>
            <a:off x="1124712" y="4389120"/>
            <a:ext cx="54864" cy="54864"/>
          </a:xfrm>
          <a:prstGeom prst="ellipse">
            <a:avLst/>
          </a:prstGeom>
          <a:solidFill>
            <a:srgbClr val="147D82"/>
          </a:solidFill>
          <a:ln w="6350">
            <a:solidFill>
              <a:srgbClr val="1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71016" y="4306824"/>
            <a:ext cx="1261872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83247"/>
                </a:solidFill>
                <a:latin typeface="Inter"/>
              </a:rPr>
              <a:t>C/C++ file discovery</a:t>
            </a:r>
          </a:p>
        </p:txBody>
      </p:sp>
      <p:sp>
        <p:nvSpPr>
          <p:cNvPr id="17" name="Oval 16"/>
          <p:cNvSpPr/>
          <p:nvPr/>
        </p:nvSpPr>
        <p:spPr>
          <a:xfrm>
            <a:off x="3703320" y="1682496"/>
            <a:ext cx="566928" cy="566928"/>
          </a:xfrm>
          <a:prstGeom prst="ellipse">
            <a:avLst/>
          </a:prstGeom>
          <a:solidFill>
            <a:srgbClr val="147D82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03320" y="1847088"/>
            <a:ext cx="56692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1" i="0">
                <a:solidFill>
                  <a:srgbClr val="FFFFFF"/>
                </a:solidFill>
                <a:latin typeface="Inter"/>
              </a:rPr>
              <a:t>02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27248" y="2331720"/>
            <a:ext cx="1719072" cy="2944368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1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73552" y="2532888"/>
            <a:ext cx="1426464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40" b="1" i="0">
                <a:solidFill>
                  <a:srgbClr val="183247"/>
                </a:solidFill>
                <a:latin typeface="Inter Display"/>
              </a:rPr>
              <a:t>Code
Representation</a:t>
            </a:r>
          </a:p>
        </p:txBody>
      </p:sp>
      <p:sp>
        <p:nvSpPr>
          <p:cNvPr id="21" name="Oval 20"/>
          <p:cNvSpPr/>
          <p:nvPr/>
        </p:nvSpPr>
        <p:spPr>
          <a:xfrm>
            <a:off x="3291840" y="3328415"/>
            <a:ext cx="54864" cy="54864"/>
          </a:xfrm>
          <a:prstGeom prst="ellipse">
            <a:avLst/>
          </a:prstGeom>
          <a:solidFill>
            <a:srgbClr val="147D82"/>
          </a:solidFill>
          <a:ln w="6350">
            <a:solidFill>
              <a:srgbClr val="1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38144" y="3246120"/>
            <a:ext cx="1261872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83247"/>
                </a:solidFill>
                <a:latin typeface="Inter"/>
              </a:rPr>
              <a:t>Functions / blocks</a:t>
            </a:r>
          </a:p>
        </p:txBody>
      </p:sp>
      <p:sp>
        <p:nvSpPr>
          <p:cNvPr id="23" name="Oval 22"/>
          <p:cNvSpPr/>
          <p:nvPr/>
        </p:nvSpPr>
        <p:spPr>
          <a:xfrm>
            <a:off x="3291840" y="3858768"/>
            <a:ext cx="54864" cy="54864"/>
          </a:xfrm>
          <a:prstGeom prst="ellipse">
            <a:avLst/>
          </a:prstGeom>
          <a:solidFill>
            <a:srgbClr val="147D82"/>
          </a:solidFill>
          <a:ln w="6350">
            <a:solidFill>
              <a:srgbClr val="1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38144" y="3776472"/>
            <a:ext cx="1261872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83247"/>
                </a:solidFill>
                <a:latin typeface="Inter"/>
              </a:rPr>
              <a:t>Tokens + n-grams</a:t>
            </a:r>
          </a:p>
        </p:txBody>
      </p:sp>
      <p:sp>
        <p:nvSpPr>
          <p:cNvPr id="25" name="Oval 24"/>
          <p:cNvSpPr/>
          <p:nvPr/>
        </p:nvSpPr>
        <p:spPr>
          <a:xfrm>
            <a:off x="3291840" y="4389120"/>
            <a:ext cx="54864" cy="54864"/>
          </a:xfrm>
          <a:prstGeom prst="ellipse">
            <a:avLst/>
          </a:prstGeom>
          <a:solidFill>
            <a:srgbClr val="147D82"/>
          </a:solidFill>
          <a:ln w="6350">
            <a:solidFill>
              <a:srgbClr val="1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38144" y="4306824"/>
            <a:ext cx="1261872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83247"/>
                </a:solidFill>
                <a:latin typeface="Inter"/>
              </a:rPr>
              <a:t>Feature records</a:t>
            </a:r>
          </a:p>
        </p:txBody>
      </p:sp>
      <p:sp>
        <p:nvSpPr>
          <p:cNvPr id="27" name="Oval 26"/>
          <p:cNvSpPr/>
          <p:nvPr/>
        </p:nvSpPr>
        <p:spPr>
          <a:xfrm>
            <a:off x="5870448" y="1682496"/>
            <a:ext cx="566928" cy="566928"/>
          </a:xfrm>
          <a:prstGeom prst="ellipse">
            <a:avLst/>
          </a:prstGeom>
          <a:solidFill>
            <a:srgbClr val="D9911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70448" y="1847088"/>
            <a:ext cx="56692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1" i="0">
                <a:solidFill>
                  <a:srgbClr val="FFFFFF"/>
                </a:solidFill>
                <a:latin typeface="Inter"/>
              </a:rPr>
              <a:t>03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94376" y="2331720"/>
            <a:ext cx="1719072" cy="2944368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D991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40680" y="2532888"/>
            <a:ext cx="1426464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40" b="1" i="0">
                <a:solidFill>
                  <a:srgbClr val="183247"/>
                </a:solidFill>
                <a:latin typeface="Inter Display"/>
              </a:rPr>
              <a:t>Clone Detection
Algorithms</a:t>
            </a:r>
          </a:p>
        </p:txBody>
      </p:sp>
      <p:sp>
        <p:nvSpPr>
          <p:cNvPr id="31" name="Oval 30"/>
          <p:cNvSpPr/>
          <p:nvPr/>
        </p:nvSpPr>
        <p:spPr>
          <a:xfrm>
            <a:off x="5458968" y="3328415"/>
            <a:ext cx="54864" cy="54864"/>
          </a:xfrm>
          <a:prstGeom prst="ellipse">
            <a:avLst/>
          </a:prstGeom>
          <a:solidFill>
            <a:srgbClr val="D9911B"/>
          </a:solidFill>
          <a:ln w="6350">
            <a:solidFill>
              <a:srgbClr val="D991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05272" y="3246120"/>
            <a:ext cx="1261872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83247"/>
                </a:solidFill>
                <a:latin typeface="Inter"/>
              </a:rPr>
              <a:t>Hashing for Type-1</a:t>
            </a:r>
          </a:p>
        </p:txBody>
      </p:sp>
      <p:sp>
        <p:nvSpPr>
          <p:cNvPr id="33" name="Oval 32"/>
          <p:cNvSpPr/>
          <p:nvPr/>
        </p:nvSpPr>
        <p:spPr>
          <a:xfrm>
            <a:off x="5458968" y="3858768"/>
            <a:ext cx="54864" cy="54864"/>
          </a:xfrm>
          <a:prstGeom prst="ellipse">
            <a:avLst/>
          </a:prstGeom>
          <a:solidFill>
            <a:srgbClr val="D9911B"/>
          </a:solidFill>
          <a:ln w="6350">
            <a:solidFill>
              <a:srgbClr val="D991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05272" y="3776472"/>
            <a:ext cx="1261872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83247"/>
                </a:solidFill>
                <a:latin typeface="Inter"/>
              </a:rPr>
              <a:t>Token mapping for Type-2</a:t>
            </a:r>
          </a:p>
        </p:txBody>
      </p:sp>
      <p:sp>
        <p:nvSpPr>
          <p:cNvPr id="35" name="Oval 34"/>
          <p:cNvSpPr/>
          <p:nvPr/>
        </p:nvSpPr>
        <p:spPr>
          <a:xfrm>
            <a:off x="5458968" y="4389120"/>
            <a:ext cx="54864" cy="54864"/>
          </a:xfrm>
          <a:prstGeom prst="ellipse">
            <a:avLst/>
          </a:prstGeom>
          <a:solidFill>
            <a:srgbClr val="D9911B"/>
          </a:solidFill>
          <a:ln w="6350">
            <a:solidFill>
              <a:srgbClr val="D991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05272" y="4306824"/>
            <a:ext cx="1261872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83247"/>
                </a:solidFill>
                <a:latin typeface="Inter"/>
              </a:rPr>
              <a:t>Jaccard + LCS/edit distance for Type-3</a:t>
            </a:r>
          </a:p>
        </p:txBody>
      </p:sp>
      <p:sp>
        <p:nvSpPr>
          <p:cNvPr id="37" name="Oval 36"/>
          <p:cNvSpPr/>
          <p:nvPr/>
        </p:nvSpPr>
        <p:spPr>
          <a:xfrm>
            <a:off x="8037576" y="1682496"/>
            <a:ext cx="566928" cy="566928"/>
          </a:xfrm>
          <a:prstGeom prst="ellipse">
            <a:avLst/>
          </a:prstGeom>
          <a:solidFill>
            <a:srgbClr val="147D82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37576" y="1847088"/>
            <a:ext cx="56692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1" i="0">
                <a:solidFill>
                  <a:srgbClr val="FFFFFF"/>
                </a:solidFill>
                <a:latin typeface="Inter"/>
              </a:rPr>
              <a:t>04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61504" y="2331720"/>
            <a:ext cx="1719072" cy="2944368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1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07808" y="2532888"/>
            <a:ext cx="1426464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40" b="1" i="0">
                <a:solidFill>
                  <a:srgbClr val="183247"/>
                </a:solidFill>
                <a:latin typeface="Inter Display"/>
              </a:rPr>
              <a:t>Stylometry &amp;
Statistics</a:t>
            </a:r>
          </a:p>
        </p:txBody>
      </p:sp>
      <p:sp>
        <p:nvSpPr>
          <p:cNvPr id="41" name="Oval 40"/>
          <p:cNvSpPr/>
          <p:nvPr/>
        </p:nvSpPr>
        <p:spPr>
          <a:xfrm>
            <a:off x="7626096" y="3328415"/>
            <a:ext cx="54864" cy="54864"/>
          </a:xfrm>
          <a:prstGeom prst="ellipse">
            <a:avLst/>
          </a:prstGeom>
          <a:solidFill>
            <a:srgbClr val="147D82"/>
          </a:solidFill>
          <a:ln w="6350">
            <a:solidFill>
              <a:srgbClr val="1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0" y="3246120"/>
            <a:ext cx="1261872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83247"/>
                </a:solidFill>
                <a:latin typeface="Inter"/>
              </a:rPr>
              <a:t>Style feature vectors</a:t>
            </a:r>
          </a:p>
        </p:txBody>
      </p:sp>
      <p:sp>
        <p:nvSpPr>
          <p:cNvPr id="43" name="Oval 42"/>
          <p:cNvSpPr/>
          <p:nvPr/>
        </p:nvSpPr>
        <p:spPr>
          <a:xfrm>
            <a:off x="7626096" y="3858768"/>
            <a:ext cx="54864" cy="54864"/>
          </a:xfrm>
          <a:prstGeom prst="ellipse">
            <a:avLst/>
          </a:prstGeom>
          <a:solidFill>
            <a:srgbClr val="147D82"/>
          </a:solidFill>
          <a:ln w="6350">
            <a:solidFill>
              <a:srgbClr val="1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0" y="3776472"/>
            <a:ext cx="1261872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83247"/>
                </a:solidFill>
                <a:latin typeface="Inter"/>
              </a:rPr>
              <a:t>Student / pair matrices</a:t>
            </a:r>
          </a:p>
        </p:txBody>
      </p:sp>
      <p:sp>
        <p:nvSpPr>
          <p:cNvPr id="45" name="Oval 44"/>
          <p:cNvSpPr/>
          <p:nvPr/>
        </p:nvSpPr>
        <p:spPr>
          <a:xfrm>
            <a:off x="7626096" y="4389120"/>
            <a:ext cx="54864" cy="54864"/>
          </a:xfrm>
          <a:prstGeom prst="ellipse">
            <a:avLst/>
          </a:prstGeom>
          <a:solidFill>
            <a:srgbClr val="147D82"/>
          </a:solidFill>
          <a:ln w="6350">
            <a:solidFill>
              <a:srgbClr val="1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0" y="4306824"/>
            <a:ext cx="1261872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83247"/>
                </a:solidFill>
                <a:latin typeface="Inter"/>
              </a:rPr>
              <a:t>Coverage + distributions</a:t>
            </a:r>
          </a:p>
        </p:txBody>
      </p:sp>
      <p:sp>
        <p:nvSpPr>
          <p:cNvPr id="47" name="Oval 46"/>
          <p:cNvSpPr/>
          <p:nvPr/>
        </p:nvSpPr>
        <p:spPr>
          <a:xfrm>
            <a:off x="10204704" y="1682496"/>
            <a:ext cx="566928" cy="566928"/>
          </a:xfrm>
          <a:prstGeom prst="ellipse">
            <a:avLst/>
          </a:prstGeom>
          <a:solidFill>
            <a:srgbClr val="2E7D5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204704" y="1847088"/>
            <a:ext cx="56692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1" i="0">
                <a:solidFill>
                  <a:srgbClr val="FFFFFF"/>
                </a:solidFill>
                <a:latin typeface="Inter"/>
              </a:rPr>
              <a:t>05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628632" y="2331720"/>
            <a:ext cx="1719072" cy="2944368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2E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774936" y="2532888"/>
            <a:ext cx="1426464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40" b="1" i="0">
                <a:solidFill>
                  <a:srgbClr val="183247"/>
                </a:solidFill>
                <a:latin typeface="Inter Display"/>
              </a:rPr>
              <a:t>Reporting &amp;
Evaluation</a:t>
            </a:r>
          </a:p>
        </p:txBody>
      </p:sp>
      <p:sp>
        <p:nvSpPr>
          <p:cNvPr id="51" name="Oval 50"/>
          <p:cNvSpPr/>
          <p:nvPr/>
        </p:nvSpPr>
        <p:spPr>
          <a:xfrm>
            <a:off x="9793224" y="3328415"/>
            <a:ext cx="54864" cy="54864"/>
          </a:xfrm>
          <a:prstGeom prst="ellipse">
            <a:avLst/>
          </a:prstGeom>
          <a:solidFill>
            <a:srgbClr val="2E7D5B"/>
          </a:solidFill>
          <a:ln w="6350">
            <a:solidFill>
              <a:srgbClr val="2E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939528" y="3246120"/>
            <a:ext cx="1261872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83247"/>
                </a:solidFill>
                <a:latin typeface="Inter"/>
              </a:rPr>
              <a:t>Explainable review report</a:t>
            </a:r>
          </a:p>
        </p:txBody>
      </p:sp>
      <p:sp>
        <p:nvSpPr>
          <p:cNvPr id="53" name="Oval 52"/>
          <p:cNvSpPr/>
          <p:nvPr/>
        </p:nvSpPr>
        <p:spPr>
          <a:xfrm>
            <a:off x="9793224" y="3858768"/>
            <a:ext cx="54864" cy="54864"/>
          </a:xfrm>
          <a:prstGeom prst="ellipse">
            <a:avLst/>
          </a:prstGeom>
          <a:solidFill>
            <a:srgbClr val="2E7D5B"/>
          </a:solidFill>
          <a:ln w="6350">
            <a:solidFill>
              <a:srgbClr val="2E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939528" y="3776472"/>
            <a:ext cx="1261872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83247"/>
                </a:solidFill>
                <a:latin typeface="Inter"/>
              </a:rPr>
              <a:t>Human-verified subset</a:t>
            </a:r>
          </a:p>
        </p:txBody>
      </p:sp>
      <p:sp>
        <p:nvSpPr>
          <p:cNvPr id="55" name="Oval 54"/>
          <p:cNvSpPr/>
          <p:nvPr/>
        </p:nvSpPr>
        <p:spPr>
          <a:xfrm>
            <a:off x="9793224" y="4389120"/>
            <a:ext cx="54864" cy="54864"/>
          </a:xfrm>
          <a:prstGeom prst="ellipse">
            <a:avLst/>
          </a:prstGeom>
          <a:solidFill>
            <a:srgbClr val="2E7D5B"/>
          </a:solidFill>
          <a:ln w="6350">
            <a:solidFill>
              <a:srgbClr val="2E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939528" y="4306824"/>
            <a:ext cx="1261872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83247"/>
                </a:solidFill>
                <a:latin typeface="Inter"/>
              </a:rPr>
              <a:t>Precision • recall • F1 • runtime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41248" y="5596128"/>
            <a:ext cx="10469880" cy="658368"/>
          </a:xfrm>
          <a:prstGeom prst="roundRect">
            <a:avLst/>
          </a:prstGeom>
          <a:solidFill>
            <a:srgbClr val="EAF2F8"/>
          </a:solidFill>
          <a:ln w="10160">
            <a:solidFill>
              <a:srgbClr val="10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60704" y="5760720"/>
            <a:ext cx="100126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1" i="0">
                <a:solidFill>
                  <a:srgbClr val="102C46"/>
                </a:solidFill>
                <a:latin typeface="Inter"/>
              </a:rPr>
              <a:t>Engineering rule: every stage preserves source locations and evidence so later statistics can always be traced back to the original code.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8796A5"/>
                </a:solidFill>
                <a:latin typeface="Inter"/>
              </a:rPr>
              <a:t>CloneScope  •  SPL-1 Project Proposal  •  Raian Huq, BSSE1708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155680" y="6510528"/>
            <a:ext cx="457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8796A5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96926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02C46"/>
                </a:solidFill>
                <a:latin typeface="Inter Display"/>
              </a:rPr>
              <a:t>Expected Final Output Preview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9601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5778A"/>
                </a:solidFill>
                <a:latin typeface="Inter"/>
              </a:rPr>
              <a:t>Conceptual demonstration of the intended final system output — not a current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5029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147D82"/>
                </a:solidFill>
                <a:latin typeface="Inter"/>
              </a:rPr>
              <a:t>06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1082528" cy="0"/>
          </a:xfrm>
          <a:prstGeom prst="line">
            <a:avLst/>
          </a:prstGeom>
          <a:ln w="1016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1243584"/>
            <a:ext cx="10881360" cy="438912"/>
          </a:xfrm>
          <a:prstGeom prst="roundRect">
            <a:avLst/>
          </a:prstGeom>
          <a:solidFill>
            <a:srgbClr val="FFF4DE"/>
          </a:solidFill>
          <a:ln w="11430">
            <a:solidFill>
              <a:srgbClr val="D991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62456"/>
            <a:ext cx="105613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 i="0">
                <a:solidFill>
                  <a:srgbClr val="A56608"/>
                </a:solidFill>
                <a:latin typeface="Inter"/>
              </a:rPr>
              <a:t>CONCEPTUAL PREVIEW  •  NO WORKING PROTOTYPE OR MEASURED RESULTS ARE BEING CLAIMED ON THIS SLIDE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74519"/>
            <a:ext cx="2240280" cy="3611880"/>
          </a:xfrm>
          <a:prstGeom prst="roundRect">
            <a:avLst/>
          </a:prstGeom>
          <a:solidFill>
            <a:srgbClr val="EAF2F8"/>
          </a:solidFill>
          <a:ln w="13970">
            <a:solidFill>
              <a:srgbClr val="10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084831"/>
            <a:ext cx="1737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02C46"/>
                </a:solidFill>
                <a:latin typeface="Inter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414016"/>
            <a:ext cx="17373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183247"/>
                </a:solidFill>
                <a:latin typeface="Inter Display"/>
              </a:rPr>
              <a:t>Student repositories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2999232"/>
            <a:ext cx="1627632" cy="3840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9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090672"/>
            <a:ext cx="138988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0" i="0">
                <a:solidFill>
                  <a:srgbClr val="183247"/>
                </a:solidFill>
                <a:latin typeface="DejaVu Sans Mono"/>
              </a:rPr>
              <a:t>▰  Student_A/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3529584"/>
            <a:ext cx="1627632" cy="3840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9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621024"/>
            <a:ext cx="138988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0" i="0">
                <a:solidFill>
                  <a:srgbClr val="183247"/>
                </a:solidFill>
                <a:latin typeface="DejaVu Sans Mono"/>
              </a:rPr>
              <a:t>▰  Student_B/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4059935"/>
            <a:ext cx="1627632" cy="3840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9C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151375"/>
            <a:ext cx="138988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0" i="0">
                <a:solidFill>
                  <a:srgbClr val="183247"/>
                </a:solidFill>
                <a:latin typeface="DejaVu Sans Mono"/>
              </a:rPr>
              <a:t>▰  Student_C/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4773168"/>
            <a:ext cx="17373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69" b="0" i="0">
                <a:solidFill>
                  <a:srgbClr val="65778A"/>
                </a:solidFill>
                <a:latin typeface="Inter"/>
              </a:rPr>
              <a:t>C/C++ files +
student / assignment metadata</a:t>
            </a:r>
          </a:p>
        </p:txBody>
      </p:sp>
      <p:sp>
        <p:nvSpPr>
          <p:cNvPr id="18" name="Chevron 17"/>
          <p:cNvSpPr/>
          <p:nvPr/>
        </p:nvSpPr>
        <p:spPr>
          <a:xfrm>
            <a:off x="3063240" y="3246120"/>
            <a:ext cx="502920" cy="749808"/>
          </a:xfrm>
          <a:prstGeom prst="chevron">
            <a:avLst/>
          </a:prstGeom>
          <a:solidFill>
            <a:srgbClr val="9FB0BD"/>
          </a:solidFill>
          <a:ln w="6350">
            <a:solidFill>
              <a:srgbClr val="9FB0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675887" y="1874519"/>
            <a:ext cx="7863840" cy="3611880"/>
          </a:xfrm>
          <a:prstGeom prst="roundRect">
            <a:avLst/>
          </a:prstGeom>
          <a:solidFill>
            <a:srgbClr val="F9FBFC"/>
          </a:solidFill>
          <a:ln w="13970">
            <a:solidFill>
              <a:srgbClr val="17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75887" y="1874519"/>
            <a:ext cx="7863840" cy="530352"/>
          </a:xfrm>
          <a:prstGeom prst="rect">
            <a:avLst/>
          </a:prstGeom>
          <a:solidFill>
            <a:srgbClr val="102C46"/>
          </a:solidFill>
          <a:ln>
            <a:solidFill>
              <a:srgbClr val="10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86200" y="2029968"/>
            <a:ext cx="49377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 i="0">
                <a:solidFill>
                  <a:srgbClr val="FFFFFF"/>
                </a:solidFill>
                <a:latin typeface="Inter"/>
              </a:rPr>
              <a:t>Clone Pair  •  Student_A/file1.cpp  ↔  Student_B/file2.cpp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02368" y="1984248"/>
            <a:ext cx="1417320" cy="310896"/>
          </a:xfrm>
          <a:prstGeom prst="roundRect">
            <a:avLst/>
          </a:prstGeom>
          <a:solidFill>
            <a:srgbClr val="D9911B"/>
          </a:solidFill>
          <a:ln w="6350">
            <a:solidFill>
              <a:srgbClr val="D991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48088" y="2011679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1" i="0">
                <a:solidFill>
                  <a:srgbClr val="FFFFFF"/>
                </a:solidFill>
                <a:latin typeface="Inter"/>
              </a:rPr>
              <a:t>TYPE-3 CLONE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13632" y="2633472"/>
            <a:ext cx="2011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47D82"/>
                </a:solidFill>
                <a:latin typeface="Inter"/>
              </a:rPr>
              <a:t>EVIDENCE</a:t>
            </a:r>
          </a:p>
        </p:txBody>
      </p:sp>
      <p:sp>
        <p:nvSpPr>
          <p:cNvPr id="25" name="Oval 24"/>
          <p:cNvSpPr/>
          <p:nvPr/>
        </p:nvSpPr>
        <p:spPr>
          <a:xfrm>
            <a:off x="3913632" y="3008376"/>
            <a:ext cx="73152" cy="73152"/>
          </a:xfrm>
          <a:prstGeom prst="ellipse">
            <a:avLst/>
          </a:prstGeom>
          <a:solidFill>
            <a:srgbClr val="147D82"/>
          </a:solidFill>
          <a:ln w="6350">
            <a:solidFill>
              <a:srgbClr val="1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78224" y="2907792"/>
            <a:ext cx="2715768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183247"/>
                </a:solidFill>
                <a:latin typeface="Inter"/>
              </a:rPr>
              <a:t>Matched source regions: [highlighted lines]</a:t>
            </a:r>
          </a:p>
        </p:txBody>
      </p:sp>
      <p:sp>
        <p:nvSpPr>
          <p:cNvPr id="27" name="Oval 26"/>
          <p:cNvSpPr/>
          <p:nvPr/>
        </p:nvSpPr>
        <p:spPr>
          <a:xfrm>
            <a:off x="3913632" y="3374136"/>
            <a:ext cx="73152" cy="73152"/>
          </a:xfrm>
          <a:prstGeom prst="ellipse">
            <a:avLst/>
          </a:prstGeom>
          <a:solidFill>
            <a:srgbClr val="147D82"/>
          </a:solidFill>
          <a:ln w="6350">
            <a:solidFill>
              <a:srgbClr val="1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78224" y="3273552"/>
            <a:ext cx="2715768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183247"/>
                </a:solidFill>
                <a:latin typeface="Inter"/>
              </a:rPr>
              <a:t>Similarity score: [computed value]</a:t>
            </a:r>
          </a:p>
        </p:txBody>
      </p:sp>
      <p:sp>
        <p:nvSpPr>
          <p:cNvPr id="29" name="Oval 28"/>
          <p:cNvSpPr/>
          <p:nvPr/>
        </p:nvSpPr>
        <p:spPr>
          <a:xfrm>
            <a:off x="3913632" y="3739896"/>
            <a:ext cx="73152" cy="73152"/>
          </a:xfrm>
          <a:prstGeom prst="ellipse">
            <a:avLst/>
          </a:prstGeom>
          <a:solidFill>
            <a:srgbClr val="147D82"/>
          </a:solidFill>
          <a:ln w="6350">
            <a:solidFill>
              <a:srgbClr val="1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78224" y="3639312"/>
            <a:ext cx="2715768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183247"/>
                </a:solidFill>
                <a:latin typeface="Inter"/>
              </a:rPr>
              <a:t>Changed statements: [insert / delete / modify]</a:t>
            </a:r>
          </a:p>
        </p:txBody>
      </p:sp>
      <p:sp>
        <p:nvSpPr>
          <p:cNvPr id="31" name="Oval 30"/>
          <p:cNvSpPr/>
          <p:nvPr/>
        </p:nvSpPr>
        <p:spPr>
          <a:xfrm>
            <a:off x="3913632" y="4105656"/>
            <a:ext cx="73152" cy="73152"/>
          </a:xfrm>
          <a:prstGeom prst="ellipse">
            <a:avLst/>
          </a:prstGeom>
          <a:solidFill>
            <a:srgbClr val="147D82"/>
          </a:solidFill>
          <a:ln w="6350">
            <a:solidFill>
              <a:srgbClr val="1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78224" y="4005072"/>
            <a:ext cx="2715768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183247"/>
                </a:solidFill>
                <a:latin typeface="Inter"/>
              </a:rPr>
              <a:t>Clone tag includes source locations + review 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2633472"/>
            <a:ext cx="2011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47D82"/>
                </a:solidFill>
                <a:latin typeface="Inter"/>
              </a:rPr>
              <a:t>STYLOMETRY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03720" y="2907792"/>
            <a:ext cx="2148840" cy="457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59168" y="2980944"/>
            <a:ext cx="74980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 i="0">
                <a:solidFill>
                  <a:srgbClr val="183247"/>
                </a:solidFill>
                <a:latin typeface="Inter"/>
              </a:rPr>
              <a:t>Naming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90688" y="2980944"/>
            <a:ext cx="107899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80" b="0" i="0">
                <a:solidFill>
                  <a:srgbClr val="65778A"/>
                </a:solidFill>
                <a:latin typeface="Inter"/>
              </a:rPr>
              <a:t>identifier-style indicators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03720" y="3493008"/>
            <a:ext cx="2148840" cy="457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59168" y="3566160"/>
            <a:ext cx="74980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 i="0">
                <a:solidFill>
                  <a:srgbClr val="183247"/>
                </a:solidFill>
                <a:latin typeface="Inter"/>
              </a:rPr>
              <a:t>Formatting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90688" y="3566160"/>
            <a:ext cx="107899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80" b="0" i="0">
                <a:solidFill>
                  <a:srgbClr val="65778A"/>
                </a:solidFill>
                <a:latin typeface="Inter"/>
              </a:rPr>
              <a:t>indent / brace habits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03720" y="4078224"/>
            <a:ext cx="2148840" cy="457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59168" y="4151376"/>
            <a:ext cx="74980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 i="0">
                <a:solidFill>
                  <a:srgbClr val="183247"/>
                </a:solidFill>
                <a:latin typeface="Inter"/>
              </a:rPr>
              <a:t>Structural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90688" y="4151376"/>
            <a:ext cx="107899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80" b="0" i="0">
                <a:solidFill>
                  <a:srgbClr val="65778A"/>
                </a:solidFill>
                <a:latin typeface="Inter"/>
              </a:rPr>
              <a:t>function / nesting habits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08592" y="2633472"/>
            <a:ext cx="18288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E7D5B"/>
                </a:solidFill>
                <a:latin typeface="Inter"/>
              </a:rPr>
              <a:t>FINAL REPORT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308592" y="2907792"/>
            <a:ext cx="1874519" cy="530352"/>
          </a:xfrm>
          <a:prstGeom prst="roundRect">
            <a:avLst/>
          </a:prstGeom>
          <a:solidFill>
            <a:srgbClr val="FFF4DE"/>
          </a:solidFill>
          <a:ln w="10160">
            <a:solidFill>
              <a:srgbClr val="D991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36608" y="2980944"/>
            <a:ext cx="74980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D9911B"/>
                </a:solidFill>
                <a:latin typeface="Inter"/>
              </a:rPr>
              <a:t>Review priority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85832" y="2980944"/>
            <a:ext cx="960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80" b="0" i="0">
                <a:solidFill>
                  <a:srgbClr val="183247"/>
                </a:solidFill>
                <a:latin typeface="Inter"/>
              </a:rPr>
              <a:t>[Low / Medium / High]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308592" y="3566160"/>
            <a:ext cx="1874519" cy="530352"/>
          </a:xfrm>
          <a:prstGeom prst="roundRect">
            <a:avLst/>
          </a:prstGeom>
          <a:solidFill>
            <a:srgbClr val="EAF5EF"/>
          </a:solidFill>
          <a:ln w="10160">
            <a:solidFill>
              <a:srgbClr val="2E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36608" y="3639312"/>
            <a:ext cx="74980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2E7D5B"/>
                </a:solidFill>
                <a:latin typeface="Inter"/>
              </a:rPr>
              <a:t>Explanation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85832" y="3639312"/>
            <a:ext cx="960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80" b="0" i="0">
                <a:solidFill>
                  <a:srgbClr val="183247"/>
                </a:solidFill>
                <a:latin typeface="Inter"/>
              </a:rPr>
              <a:t>Why this case was prioritized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308592" y="4224528"/>
            <a:ext cx="1874519" cy="530352"/>
          </a:xfrm>
          <a:prstGeom prst="roundRect">
            <a:avLst/>
          </a:prstGeom>
          <a:solidFill>
            <a:srgbClr val="EAF2F8"/>
          </a:solidFill>
          <a:ln w="10160">
            <a:solidFill>
              <a:srgbClr val="10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36608" y="4297680"/>
            <a:ext cx="74980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102C46"/>
                </a:solidFill>
                <a:latin typeface="Inter"/>
              </a:rPr>
              <a:t>Export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85832" y="4297680"/>
            <a:ext cx="960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80" b="0" i="0">
                <a:solidFill>
                  <a:srgbClr val="183247"/>
                </a:solidFill>
                <a:latin typeface="Inter"/>
              </a:rPr>
              <a:t>CSV / JSON records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13632" y="5084064"/>
            <a:ext cx="724204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0" i="1">
                <a:solidFill>
                  <a:srgbClr val="65778A"/>
                </a:solidFill>
                <a:latin typeface="Inter"/>
              </a:rPr>
              <a:t>The final interface/report may change during implementation; the evidence fields and human-review boundary remain part of the approved scope.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8796A5"/>
                </a:solidFill>
                <a:latin typeface="Inter"/>
              </a:rPr>
              <a:t>CloneScope  •  SPL-1 Project Proposal  •  Raian Huq, BSSE1708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55680" y="6510528"/>
            <a:ext cx="457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8796A5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96926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02C46"/>
                </a:solidFill>
                <a:latin typeface="Inter Display"/>
              </a:rPr>
              <a:t>Technology Stack &amp; Scope Constraints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9601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5778A"/>
                </a:solidFill>
                <a:latin typeface="Inter"/>
              </a:rPr>
              <a:t>The implementation stays deliberately explainable, C++-centric and bounded for SPL-1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5029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147D82"/>
                </a:solidFill>
                <a:latin typeface="Inter"/>
              </a:rPr>
              <a:t>07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1082528" cy="0"/>
          </a:xfrm>
          <a:prstGeom prst="line">
            <a:avLst/>
          </a:prstGeom>
          <a:ln w="1016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1417320"/>
            <a:ext cx="5257800" cy="4526280"/>
          </a:xfrm>
          <a:prstGeom prst="roundRect">
            <a:avLst/>
          </a:prstGeom>
          <a:solidFill>
            <a:srgbClr val="EAF2F8"/>
          </a:solidFill>
          <a:ln w="13970">
            <a:solidFill>
              <a:srgbClr val="10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64208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02C46"/>
                </a:solidFill>
                <a:latin typeface="Inter"/>
              </a:rPr>
              <a:t>CORE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1828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02C46"/>
                </a:solidFill>
                <a:latin typeface="Inter Display"/>
              </a:rPr>
              <a:t>C++17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2084831"/>
            <a:ext cx="3017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5778A"/>
                </a:solidFill>
                <a:latin typeface="Inter"/>
              </a:rPr>
              <a:t>core implementation</a:t>
            </a:r>
          </a:p>
        </p:txBody>
      </p:sp>
      <p:sp>
        <p:nvSpPr>
          <p:cNvPr id="10" name="Oval 9"/>
          <p:cNvSpPr/>
          <p:nvPr/>
        </p:nvSpPr>
        <p:spPr>
          <a:xfrm>
            <a:off x="941832" y="2779776"/>
            <a:ext cx="64008" cy="64008"/>
          </a:xfrm>
          <a:prstGeom prst="ellipse">
            <a:avLst/>
          </a:prstGeom>
          <a:solidFill>
            <a:srgbClr val="147D82"/>
          </a:solidFill>
          <a:ln w="6350">
            <a:solidFill>
              <a:srgbClr val="1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697480"/>
            <a:ext cx="24231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 i="0">
                <a:solidFill>
                  <a:srgbClr val="183247"/>
                </a:solidFill>
                <a:latin typeface="Inter"/>
              </a:rPr>
              <a:t>STL + filesystem / file I/O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008" y="2697480"/>
            <a:ext cx="199339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80" b="0" i="0">
                <a:solidFill>
                  <a:srgbClr val="65778A"/>
                </a:solidFill>
                <a:latin typeface="Inter"/>
              </a:rPr>
              <a:t>input traversal, containers, source handling</a:t>
            </a:r>
          </a:p>
        </p:txBody>
      </p:sp>
      <p:sp>
        <p:nvSpPr>
          <p:cNvPr id="13" name="Oval 12"/>
          <p:cNvSpPr/>
          <p:nvPr/>
        </p:nvSpPr>
        <p:spPr>
          <a:xfrm>
            <a:off x="941832" y="3255264"/>
            <a:ext cx="64008" cy="64008"/>
          </a:xfrm>
          <a:prstGeom prst="ellipse">
            <a:avLst/>
          </a:prstGeom>
          <a:solidFill>
            <a:srgbClr val="147D82"/>
          </a:solidFill>
          <a:ln w="6350">
            <a:solidFill>
              <a:srgbClr val="1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3172968"/>
            <a:ext cx="24231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 i="0">
                <a:solidFill>
                  <a:srgbClr val="183247"/>
                </a:solidFill>
                <a:latin typeface="Inter"/>
              </a:rPr>
              <a:t>Tokenizer / lexer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3172968"/>
            <a:ext cx="199339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80" b="0" i="0">
                <a:solidFill>
                  <a:srgbClr val="65778A"/>
                </a:solidFill>
                <a:latin typeface="Inter"/>
              </a:rPr>
              <a:t>normalized token representation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3730752"/>
            <a:ext cx="64008" cy="64008"/>
          </a:xfrm>
          <a:prstGeom prst="ellipse">
            <a:avLst/>
          </a:prstGeom>
          <a:solidFill>
            <a:srgbClr val="147D82"/>
          </a:solidFill>
          <a:ln w="6350">
            <a:solidFill>
              <a:srgbClr val="1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3648456"/>
            <a:ext cx="24231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 i="0">
                <a:solidFill>
                  <a:srgbClr val="183247"/>
                </a:solidFill>
                <a:latin typeface="Inter"/>
              </a:rPr>
              <a:t>Hashing + sequence similarity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3648456"/>
            <a:ext cx="199339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80" b="0" i="0">
                <a:solidFill>
                  <a:srgbClr val="65778A"/>
                </a:solidFill>
                <a:latin typeface="Inter"/>
              </a:rPr>
              <a:t>clone detection algorithms</a:t>
            </a:r>
          </a:p>
        </p:txBody>
      </p:sp>
      <p:sp>
        <p:nvSpPr>
          <p:cNvPr id="19" name="Oval 18"/>
          <p:cNvSpPr/>
          <p:nvPr/>
        </p:nvSpPr>
        <p:spPr>
          <a:xfrm>
            <a:off x="941832" y="4206240"/>
            <a:ext cx="64008" cy="64008"/>
          </a:xfrm>
          <a:prstGeom prst="ellipse">
            <a:avLst/>
          </a:prstGeom>
          <a:solidFill>
            <a:srgbClr val="147D82"/>
          </a:solidFill>
          <a:ln w="6350">
            <a:solidFill>
              <a:srgbClr val="1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4123944"/>
            <a:ext cx="24231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 i="0">
                <a:solidFill>
                  <a:srgbClr val="183247"/>
                </a:solidFill>
                <a:latin typeface="Inter"/>
              </a:rPr>
              <a:t>CSV / JSON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93008" y="4123944"/>
            <a:ext cx="199339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80" b="0" i="0">
                <a:solidFill>
                  <a:srgbClr val="65778A"/>
                </a:solidFill>
                <a:latin typeface="Inter"/>
              </a:rPr>
              <a:t>auditable dataset export</a:t>
            </a:r>
          </a:p>
        </p:txBody>
      </p:sp>
      <p:sp>
        <p:nvSpPr>
          <p:cNvPr id="22" name="Oval 21"/>
          <p:cNvSpPr/>
          <p:nvPr/>
        </p:nvSpPr>
        <p:spPr>
          <a:xfrm>
            <a:off x="941832" y="4681727"/>
            <a:ext cx="64008" cy="64008"/>
          </a:xfrm>
          <a:prstGeom prst="ellipse">
            <a:avLst/>
          </a:prstGeom>
          <a:solidFill>
            <a:srgbClr val="147D82"/>
          </a:solidFill>
          <a:ln w="6350">
            <a:solidFill>
              <a:srgbClr val="1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5568" y="4599431"/>
            <a:ext cx="24231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 i="0">
                <a:solidFill>
                  <a:srgbClr val="183247"/>
                </a:solidFill>
                <a:latin typeface="Inter"/>
              </a:rPr>
              <a:t>CMake + Git / GitHub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93008" y="4599431"/>
            <a:ext cx="199339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80" b="0" i="0">
                <a:solidFill>
                  <a:srgbClr val="65778A"/>
                </a:solidFill>
                <a:latin typeface="Inter"/>
              </a:rPr>
              <a:t>build + version control</a:t>
            </a:r>
          </a:p>
        </p:txBody>
      </p:sp>
      <p:sp>
        <p:nvSpPr>
          <p:cNvPr id="25" name="Oval 24"/>
          <p:cNvSpPr/>
          <p:nvPr/>
        </p:nvSpPr>
        <p:spPr>
          <a:xfrm>
            <a:off x="941832" y="5157215"/>
            <a:ext cx="64008" cy="64008"/>
          </a:xfrm>
          <a:prstGeom prst="ellipse">
            <a:avLst/>
          </a:prstGeom>
          <a:solidFill>
            <a:srgbClr val="147D82"/>
          </a:solidFill>
          <a:ln w="6350">
            <a:solidFill>
              <a:srgbClr val="1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5568" y="5074919"/>
            <a:ext cx="24231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 i="0">
                <a:solidFill>
                  <a:srgbClr val="183247"/>
                </a:solidFill>
                <a:latin typeface="Inter"/>
              </a:rPr>
              <a:t>Unit tests / testing framework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93008" y="5074919"/>
            <a:ext cx="199339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80" b="0" i="0">
                <a:solidFill>
                  <a:srgbClr val="65778A"/>
                </a:solidFill>
                <a:latin typeface="Inter"/>
              </a:rPr>
              <a:t>controlled examples + regression checks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5532120"/>
            <a:ext cx="45720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1">
                <a:solidFill>
                  <a:srgbClr val="65778A"/>
                </a:solidFill>
                <a:latin typeface="Inter"/>
              </a:rPr>
              <a:t>Optional: Python / Matplotlib only for visualizing exported statistics.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1417320"/>
            <a:ext cx="5276088" cy="4526280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1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1664208"/>
            <a:ext cx="2194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47D82"/>
                </a:solidFill>
                <a:latin typeface="Inter"/>
              </a:rPr>
              <a:t>SCOPE GUARDRAILS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10528" y="2057400"/>
            <a:ext cx="4736592" cy="521207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2148840"/>
            <a:ext cx="12070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 i="0">
                <a:solidFill>
                  <a:srgbClr val="147D82"/>
                </a:solidFill>
                <a:latin typeface="Inter"/>
              </a:rPr>
              <a:t>Language scope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45552" y="2130552"/>
            <a:ext cx="318211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183247"/>
                </a:solidFill>
                <a:latin typeface="Inter"/>
              </a:rPr>
              <a:t>Initial core targets C; controlled C++ support follows.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10528" y="2660904"/>
            <a:ext cx="4736592" cy="521207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2752344"/>
            <a:ext cx="12070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 i="0">
                <a:solidFill>
                  <a:srgbClr val="147D82"/>
                </a:solidFill>
                <a:latin typeface="Inter"/>
              </a:rPr>
              <a:t>Input scope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45552" y="2734056"/>
            <a:ext cx="318211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183247"/>
                </a:solidFill>
                <a:latin typeface="Inter"/>
              </a:rPr>
              <a:t>Local folders first; GitHub URLs enter the same pipeline after download.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10528" y="3264408"/>
            <a:ext cx="4736592" cy="521207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0" y="3355848"/>
            <a:ext cx="12070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 i="0">
                <a:solidFill>
                  <a:srgbClr val="147D82"/>
                </a:solidFill>
                <a:latin typeface="Inter"/>
              </a:rPr>
              <a:t>Granularity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45552" y="3337560"/>
            <a:ext cx="318211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183247"/>
                </a:solidFill>
                <a:latin typeface="Inter"/>
              </a:rPr>
              <a:t>Function / block-level detection on supervisor-approved educational code.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10528" y="3867912"/>
            <a:ext cx="4736592" cy="521207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5120" y="3959352"/>
            <a:ext cx="12070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 i="0">
                <a:solidFill>
                  <a:srgbClr val="147D82"/>
                </a:solidFill>
                <a:latin typeface="Inter"/>
              </a:rPr>
              <a:t>Type-4 boundary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45552" y="3941064"/>
            <a:ext cx="318211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183247"/>
                </a:solidFill>
                <a:latin typeface="Inter"/>
              </a:rPr>
              <a:t>Restricted semantic-clone candidates only — no program-equivalence claim.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10528" y="4471416"/>
            <a:ext cx="4736592" cy="521207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0" y="4562856"/>
            <a:ext cx="12070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 i="0">
                <a:solidFill>
                  <a:srgbClr val="147D82"/>
                </a:solidFill>
                <a:latin typeface="Inter"/>
              </a:rPr>
              <a:t>Model boundary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45552" y="4544568"/>
            <a:ext cx="318211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183247"/>
                </a:solidFill>
                <a:latin typeface="Inter"/>
              </a:rPr>
              <a:t>No deep-learning model in the approved core.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10528" y="5074920"/>
            <a:ext cx="4736592" cy="521207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75120" y="5166360"/>
            <a:ext cx="12070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 i="0">
                <a:solidFill>
                  <a:srgbClr val="147D82"/>
                </a:solidFill>
                <a:latin typeface="Inter"/>
              </a:rPr>
              <a:t>Decision boundary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45552" y="5148072"/>
            <a:ext cx="318211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183247"/>
                </a:solidFill>
                <a:latin typeface="Inter"/>
              </a:rPr>
              <a:t>No automatic plagiarism verdict; human verification, authorization and anonymization are mandatory.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8796A5"/>
                </a:solidFill>
                <a:latin typeface="Inter"/>
              </a:rPr>
              <a:t>CloneScope  •  SPL-1 Project Proposal  •  Raian Huq, BSSE1708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55680" y="6510528"/>
            <a:ext cx="457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8796A5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96926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02C46"/>
                </a:solidFill>
                <a:latin typeface="Inter Display"/>
              </a:rPr>
              <a:t>Expected Outcome &amp; Semester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9601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5778A"/>
                </a:solidFill>
                <a:latin typeface="Inter"/>
              </a:rPr>
              <a:t>A realistic midterm promise first; richer detection, validation and hardening follow after the midterm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5029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147D82"/>
                </a:solidFill>
                <a:latin typeface="Inter"/>
              </a:rPr>
              <a:t>08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24128"/>
            <a:ext cx="11082528" cy="0"/>
          </a:xfrm>
          <a:prstGeom prst="line">
            <a:avLst/>
          </a:prstGeom>
          <a:ln w="1016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1298448"/>
            <a:ext cx="10881360" cy="694944"/>
          </a:xfrm>
          <a:prstGeom prst="roundRect">
            <a:avLst/>
          </a:prstGeom>
          <a:solidFill>
            <a:srgbClr val="102C46"/>
          </a:solidFill>
          <a:ln>
            <a:solidFill>
              <a:srgbClr val="102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490472"/>
            <a:ext cx="103784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40" b="1" i="0">
                <a:solidFill>
                  <a:srgbClr val="FFFFFF"/>
                </a:solidFill>
                <a:latin typeface="Inter"/>
              </a:rPr>
              <a:t>FINAL OUTCOME  →  an explainable C++ clone-analysis tool with traceable tags, style/statistical evidence, human-review reports and reproducible CSV/JSON export.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51560" y="2788920"/>
            <a:ext cx="10012680" cy="0"/>
          </a:xfrm>
          <a:prstGeom prst="line">
            <a:avLst/>
          </a:prstGeom>
          <a:ln w="25400">
            <a:solidFill>
              <a:srgbClr val="B6C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143000" y="2578608"/>
            <a:ext cx="420624" cy="420624"/>
          </a:xfrm>
          <a:prstGeom prst="ellipse">
            <a:avLst/>
          </a:prstGeom>
          <a:solidFill>
            <a:srgbClr val="147D82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3072384"/>
            <a:ext cx="2377440" cy="2468880"/>
          </a:xfrm>
          <a:prstGeom prst="roundRect">
            <a:avLst/>
          </a:prstGeom>
          <a:solidFill>
            <a:srgbClr val="E7F4F2"/>
          </a:solidFill>
          <a:ln w="12700">
            <a:solidFill>
              <a:srgbClr val="1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78992" y="3264408"/>
            <a:ext cx="2048256" cy="310896"/>
          </a:xfrm>
          <a:prstGeom prst="roundRect">
            <a:avLst/>
          </a:prstGeom>
          <a:solidFill>
            <a:srgbClr val="147D82"/>
          </a:solidFill>
          <a:ln w="6350">
            <a:solidFill>
              <a:srgbClr val="1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3291839"/>
            <a:ext cx="195681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Inter"/>
              </a:rPr>
              <a:t>SEP → OCT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685032"/>
            <a:ext cx="20116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60" b="1" i="0">
                <a:solidFill>
                  <a:srgbClr val="183247"/>
                </a:solidFill>
                <a:latin typeface="Inter Display"/>
              </a:rPr>
              <a:t>Foundation</a:t>
            </a:r>
          </a:p>
        </p:txBody>
      </p:sp>
      <p:sp>
        <p:nvSpPr>
          <p:cNvPr id="14" name="Oval 13"/>
          <p:cNvSpPr/>
          <p:nvPr/>
        </p:nvSpPr>
        <p:spPr>
          <a:xfrm>
            <a:off x="1078992" y="4233672"/>
            <a:ext cx="54864" cy="54864"/>
          </a:xfrm>
          <a:prstGeom prst="ellipse">
            <a:avLst/>
          </a:prstGeom>
          <a:solidFill>
            <a:srgbClr val="147D82"/>
          </a:solidFill>
          <a:ln w="6350">
            <a:solidFill>
              <a:srgbClr val="1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25296" y="4160520"/>
            <a:ext cx="1901952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90" b="0" i="0">
                <a:solidFill>
                  <a:srgbClr val="183247"/>
                </a:solidFill>
                <a:latin typeface="Inter"/>
              </a:rPr>
              <a:t>Scope + sample dataset</a:t>
            </a:r>
          </a:p>
        </p:txBody>
      </p:sp>
      <p:sp>
        <p:nvSpPr>
          <p:cNvPr id="16" name="Oval 15"/>
          <p:cNvSpPr/>
          <p:nvPr/>
        </p:nvSpPr>
        <p:spPr>
          <a:xfrm>
            <a:off x="1078992" y="4727448"/>
            <a:ext cx="54864" cy="54864"/>
          </a:xfrm>
          <a:prstGeom prst="ellipse">
            <a:avLst/>
          </a:prstGeom>
          <a:solidFill>
            <a:srgbClr val="147D82"/>
          </a:solidFill>
          <a:ln w="6350">
            <a:solidFill>
              <a:srgbClr val="1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25296" y="4654296"/>
            <a:ext cx="1901952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90" b="0" i="0">
                <a:solidFill>
                  <a:srgbClr val="183247"/>
                </a:solidFill>
                <a:latin typeface="Inter"/>
              </a:rPr>
              <a:t>Local input + preprocessing</a:t>
            </a:r>
          </a:p>
        </p:txBody>
      </p:sp>
      <p:sp>
        <p:nvSpPr>
          <p:cNvPr id="18" name="Oval 17"/>
          <p:cNvSpPr/>
          <p:nvPr/>
        </p:nvSpPr>
        <p:spPr>
          <a:xfrm>
            <a:off x="1078992" y="5221224"/>
            <a:ext cx="54864" cy="54864"/>
          </a:xfrm>
          <a:prstGeom prst="ellipse">
            <a:avLst/>
          </a:prstGeom>
          <a:solidFill>
            <a:srgbClr val="147D82"/>
          </a:solidFill>
          <a:ln w="6350">
            <a:solidFill>
              <a:srgbClr val="1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25296" y="5148072"/>
            <a:ext cx="1901952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90" b="0" i="0">
                <a:solidFill>
                  <a:srgbClr val="183247"/>
                </a:solidFill>
                <a:latin typeface="Inter"/>
              </a:rPr>
              <a:t>Function / block segmentation</a:t>
            </a:r>
          </a:p>
        </p:txBody>
      </p:sp>
      <p:sp>
        <p:nvSpPr>
          <p:cNvPr id="20" name="Oval 19"/>
          <p:cNvSpPr/>
          <p:nvPr/>
        </p:nvSpPr>
        <p:spPr>
          <a:xfrm>
            <a:off x="3904487" y="2578608"/>
            <a:ext cx="420624" cy="420624"/>
          </a:xfrm>
          <a:prstGeom prst="ellipse">
            <a:avLst/>
          </a:prstGeom>
          <a:solidFill>
            <a:srgbClr val="D9911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675887" y="3072384"/>
            <a:ext cx="2651760" cy="2468880"/>
          </a:xfrm>
          <a:prstGeom prst="roundRect">
            <a:avLst/>
          </a:prstGeom>
          <a:solidFill>
            <a:srgbClr val="FFF4DE"/>
          </a:solidFill>
          <a:ln w="12700">
            <a:solidFill>
              <a:srgbClr val="D991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840479" y="3264408"/>
            <a:ext cx="2322576" cy="310896"/>
          </a:xfrm>
          <a:prstGeom prst="roundRect">
            <a:avLst/>
          </a:prstGeom>
          <a:solidFill>
            <a:srgbClr val="D9911B"/>
          </a:solidFill>
          <a:ln w="6350">
            <a:solidFill>
              <a:srgbClr val="D991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6199" y="3291839"/>
            <a:ext cx="22311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Inter"/>
              </a:rPr>
              <a:t>LATE OCT / EARLY NOV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58768" y="3685032"/>
            <a:ext cx="22860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60" b="1" i="0">
                <a:solidFill>
                  <a:srgbClr val="183247"/>
                </a:solidFill>
                <a:latin typeface="Inter Display"/>
              </a:rPr>
              <a:t>Midterm gate</a:t>
            </a:r>
          </a:p>
        </p:txBody>
      </p:sp>
      <p:sp>
        <p:nvSpPr>
          <p:cNvPr id="25" name="Oval 24"/>
          <p:cNvSpPr/>
          <p:nvPr/>
        </p:nvSpPr>
        <p:spPr>
          <a:xfrm>
            <a:off x="3840479" y="4233672"/>
            <a:ext cx="54864" cy="54864"/>
          </a:xfrm>
          <a:prstGeom prst="ellipse">
            <a:avLst/>
          </a:prstGeom>
          <a:solidFill>
            <a:srgbClr val="D9911B"/>
          </a:solidFill>
          <a:ln w="6350">
            <a:solidFill>
              <a:srgbClr val="D991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86783" y="4160520"/>
            <a:ext cx="2176272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90" b="0" i="0">
                <a:solidFill>
                  <a:srgbClr val="183247"/>
                </a:solidFill>
                <a:latin typeface="Inter"/>
              </a:rPr>
              <a:t>Working end-to-end core on a small verified dataset</a:t>
            </a:r>
          </a:p>
        </p:txBody>
      </p:sp>
      <p:sp>
        <p:nvSpPr>
          <p:cNvPr id="27" name="Oval 26"/>
          <p:cNvSpPr/>
          <p:nvPr/>
        </p:nvSpPr>
        <p:spPr>
          <a:xfrm>
            <a:off x="3840479" y="4727448"/>
            <a:ext cx="54864" cy="54864"/>
          </a:xfrm>
          <a:prstGeom prst="ellipse">
            <a:avLst/>
          </a:prstGeom>
          <a:solidFill>
            <a:srgbClr val="D9911B"/>
          </a:solidFill>
          <a:ln w="6350">
            <a:solidFill>
              <a:srgbClr val="D991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86783" y="4654296"/>
            <a:ext cx="2176272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90" b="0" i="0">
                <a:solidFill>
                  <a:srgbClr val="183247"/>
                </a:solidFill>
                <a:latin typeface="Inter"/>
              </a:rPr>
              <a:t>Type-1 + Type-2 tagging</a:t>
            </a:r>
          </a:p>
        </p:txBody>
      </p:sp>
      <p:sp>
        <p:nvSpPr>
          <p:cNvPr id="29" name="Oval 28"/>
          <p:cNvSpPr/>
          <p:nvPr/>
        </p:nvSpPr>
        <p:spPr>
          <a:xfrm>
            <a:off x="3840479" y="5221224"/>
            <a:ext cx="54864" cy="54864"/>
          </a:xfrm>
          <a:prstGeom prst="ellipse">
            <a:avLst/>
          </a:prstGeom>
          <a:solidFill>
            <a:srgbClr val="D9911B"/>
          </a:solidFill>
          <a:ln w="6350">
            <a:solidFill>
              <a:srgbClr val="D991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86783" y="5148072"/>
            <a:ext cx="2176272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90" b="0" i="0">
                <a:solidFill>
                  <a:srgbClr val="183247"/>
                </a:solidFill>
                <a:latin typeface="Inter"/>
              </a:rPr>
              <a:t>Initial stylometry + CSV/JSON + basic pairwise statistics</a:t>
            </a:r>
          </a:p>
        </p:txBody>
      </p:sp>
      <p:sp>
        <p:nvSpPr>
          <p:cNvPr id="31" name="Oval 30"/>
          <p:cNvSpPr/>
          <p:nvPr/>
        </p:nvSpPr>
        <p:spPr>
          <a:xfrm>
            <a:off x="6885432" y="2578608"/>
            <a:ext cx="420624" cy="420624"/>
          </a:xfrm>
          <a:prstGeom prst="ellipse">
            <a:avLst/>
          </a:prstGeom>
          <a:solidFill>
            <a:srgbClr val="147D82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656832" y="3072384"/>
            <a:ext cx="2423160" cy="246888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1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821424" y="3264408"/>
            <a:ext cx="2093976" cy="310896"/>
          </a:xfrm>
          <a:prstGeom prst="roundRect">
            <a:avLst/>
          </a:prstGeom>
          <a:solidFill>
            <a:srgbClr val="147D82"/>
          </a:solidFill>
          <a:ln w="6350">
            <a:solidFill>
              <a:srgbClr val="1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67144" y="3291839"/>
            <a:ext cx="20025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Inter"/>
              </a:rPr>
              <a:t>NOV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9712" y="3685032"/>
            <a:ext cx="20574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60" b="1" i="0">
                <a:solidFill>
                  <a:srgbClr val="183247"/>
                </a:solidFill>
                <a:latin typeface="Inter Display"/>
              </a:rPr>
              <a:t>Post-midterm</a:t>
            </a:r>
          </a:p>
        </p:txBody>
      </p:sp>
      <p:sp>
        <p:nvSpPr>
          <p:cNvPr id="36" name="Oval 35"/>
          <p:cNvSpPr/>
          <p:nvPr/>
        </p:nvSpPr>
        <p:spPr>
          <a:xfrm>
            <a:off x="6821424" y="4233672"/>
            <a:ext cx="54864" cy="54864"/>
          </a:xfrm>
          <a:prstGeom prst="ellipse">
            <a:avLst/>
          </a:prstGeom>
          <a:solidFill>
            <a:srgbClr val="147D82"/>
          </a:solidFill>
          <a:ln w="6350">
            <a:solidFill>
              <a:srgbClr val="1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67728" y="4160520"/>
            <a:ext cx="1947672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90" b="0" i="0">
                <a:solidFill>
                  <a:srgbClr val="183247"/>
                </a:solidFill>
                <a:latin typeface="Inter"/>
              </a:rPr>
              <a:t>Type-3 detection</a:t>
            </a:r>
          </a:p>
        </p:txBody>
      </p:sp>
      <p:sp>
        <p:nvSpPr>
          <p:cNvPr id="38" name="Oval 37"/>
          <p:cNvSpPr/>
          <p:nvPr/>
        </p:nvSpPr>
        <p:spPr>
          <a:xfrm>
            <a:off x="6821424" y="4727448"/>
            <a:ext cx="54864" cy="54864"/>
          </a:xfrm>
          <a:prstGeom prst="ellipse">
            <a:avLst/>
          </a:prstGeom>
          <a:solidFill>
            <a:srgbClr val="147D82"/>
          </a:solidFill>
          <a:ln w="6350">
            <a:solidFill>
              <a:srgbClr val="1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67728" y="4654296"/>
            <a:ext cx="1947672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90" b="0" i="0">
                <a:solidFill>
                  <a:srgbClr val="183247"/>
                </a:solidFill>
                <a:latin typeface="Inter"/>
              </a:rPr>
              <a:t>Restricted Type-4 screening</a:t>
            </a:r>
          </a:p>
        </p:txBody>
      </p:sp>
      <p:sp>
        <p:nvSpPr>
          <p:cNvPr id="40" name="Oval 39"/>
          <p:cNvSpPr/>
          <p:nvPr/>
        </p:nvSpPr>
        <p:spPr>
          <a:xfrm>
            <a:off x="6821424" y="5221224"/>
            <a:ext cx="54864" cy="54864"/>
          </a:xfrm>
          <a:prstGeom prst="ellipse">
            <a:avLst/>
          </a:prstGeom>
          <a:solidFill>
            <a:srgbClr val="147D82"/>
          </a:solidFill>
          <a:ln w="6350">
            <a:solidFill>
              <a:srgbClr val="1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67728" y="5148072"/>
            <a:ext cx="1947672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90" b="0" i="0">
                <a:solidFill>
                  <a:srgbClr val="183247"/>
                </a:solidFill>
                <a:latin typeface="Inter"/>
              </a:rPr>
              <a:t>Evidence fusion + explainable report + validation</a:t>
            </a:r>
          </a:p>
        </p:txBody>
      </p:sp>
      <p:sp>
        <p:nvSpPr>
          <p:cNvPr id="42" name="Oval 41"/>
          <p:cNvSpPr/>
          <p:nvPr/>
        </p:nvSpPr>
        <p:spPr>
          <a:xfrm>
            <a:off x="9582912" y="2578608"/>
            <a:ext cx="420624" cy="420624"/>
          </a:xfrm>
          <a:prstGeom prst="ellipse">
            <a:avLst/>
          </a:prstGeom>
          <a:solidFill>
            <a:srgbClr val="2E7D5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354312" y="3072384"/>
            <a:ext cx="2148840" cy="2468880"/>
          </a:xfrm>
          <a:prstGeom prst="roundRect">
            <a:avLst/>
          </a:prstGeom>
          <a:solidFill>
            <a:srgbClr val="EAF5EF"/>
          </a:solidFill>
          <a:ln w="12700">
            <a:solidFill>
              <a:srgbClr val="2E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518904" y="3264408"/>
            <a:ext cx="1819656" cy="310896"/>
          </a:xfrm>
          <a:prstGeom prst="roundRect">
            <a:avLst/>
          </a:prstGeom>
          <a:solidFill>
            <a:srgbClr val="2E7D5B"/>
          </a:solidFill>
          <a:ln w="6350">
            <a:solidFill>
              <a:srgbClr val="2E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64624" y="3291839"/>
            <a:ext cx="172821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Inter"/>
              </a:rPr>
              <a:t>DEC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37192" y="3685032"/>
            <a:ext cx="17830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60" b="1" i="0">
                <a:solidFill>
                  <a:srgbClr val="183247"/>
                </a:solidFill>
                <a:latin typeface="Inter Display"/>
              </a:rPr>
              <a:t>Final release</a:t>
            </a:r>
          </a:p>
        </p:txBody>
      </p:sp>
      <p:sp>
        <p:nvSpPr>
          <p:cNvPr id="47" name="Oval 46"/>
          <p:cNvSpPr/>
          <p:nvPr/>
        </p:nvSpPr>
        <p:spPr>
          <a:xfrm>
            <a:off x="9518904" y="4233672"/>
            <a:ext cx="54864" cy="54864"/>
          </a:xfrm>
          <a:prstGeom prst="ellipse">
            <a:avLst/>
          </a:prstGeom>
          <a:solidFill>
            <a:srgbClr val="2E7D5B"/>
          </a:solidFill>
          <a:ln w="6350">
            <a:solidFill>
              <a:srgbClr val="2E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65208" y="4160520"/>
            <a:ext cx="1673352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90" b="0" i="0">
                <a:solidFill>
                  <a:srgbClr val="183247"/>
                </a:solidFill>
                <a:latin typeface="Inter"/>
              </a:rPr>
              <a:t>False-positive reduction + performance hardening</a:t>
            </a:r>
          </a:p>
        </p:txBody>
      </p:sp>
      <p:sp>
        <p:nvSpPr>
          <p:cNvPr id="49" name="Oval 48"/>
          <p:cNvSpPr/>
          <p:nvPr/>
        </p:nvSpPr>
        <p:spPr>
          <a:xfrm>
            <a:off x="9518904" y="4727448"/>
            <a:ext cx="54864" cy="54864"/>
          </a:xfrm>
          <a:prstGeom prst="ellipse">
            <a:avLst/>
          </a:prstGeom>
          <a:solidFill>
            <a:srgbClr val="2E7D5B"/>
          </a:solidFill>
          <a:ln w="6350">
            <a:solidFill>
              <a:srgbClr val="2E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65208" y="4654296"/>
            <a:ext cx="1673352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90" b="0" i="0">
                <a:solidFill>
                  <a:srgbClr val="183247"/>
                </a:solidFill>
                <a:latin typeface="Inter"/>
              </a:rPr>
              <a:t>Precision / recall / F1 + runtime evaluation</a:t>
            </a:r>
          </a:p>
        </p:txBody>
      </p:sp>
      <p:sp>
        <p:nvSpPr>
          <p:cNvPr id="51" name="Oval 50"/>
          <p:cNvSpPr/>
          <p:nvPr/>
        </p:nvSpPr>
        <p:spPr>
          <a:xfrm>
            <a:off x="9518904" y="5221224"/>
            <a:ext cx="54864" cy="54864"/>
          </a:xfrm>
          <a:prstGeom prst="ellipse">
            <a:avLst/>
          </a:prstGeom>
          <a:solidFill>
            <a:srgbClr val="2E7D5B"/>
          </a:solidFill>
          <a:ln w="6350">
            <a:solidFill>
              <a:srgbClr val="2E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65208" y="5148072"/>
            <a:ext cx="1673352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90" b="0" i="0">
                <a:solidFill>
                  <a:srgbClr val="183247"/>
                </a:solidFill>
                <a:latin typeface="Inter"/>
              </a:rPr>
              <a:t>Tests, documentation + reproducible final demo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261872" y="5760720"/>
            <a:ext cx="9674352" cy="475488"/>
          </a:xfrm>
          <a:prstGeom prst="roundRect">
            <a:avLst/>
          </a:prstGeom>
          <a:solidFill>
            <a:srgbClr val="F8FAFC"/>
          </a:solidFill>
          <a:ln w="889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463040" y="5879592"/>
            <a:ext cx="927201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02C46"/>
                </a:solidFill>
                <a:latin typeface="Inter"/>
              </a:rPr>
              <a:t>Midterm promise is intentionally conservative: demonstrate a reliable Type-1/Type-2 end-to-end core first; Type-3, restricted Type-4, full fusion and validation are post-midterm work.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8796A5"/>
                </a:solidFill>
                <a:latin typeface="Inter"/>
              </a:rPr>
              <a:t>CloneScope  •  SPL-1 Project Proposal  •  Raian Huq, BSSE1708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155680" y="6510528"/>
            <a:ext cx="457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8796A5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CloneScope — SPL-1 Project Proposal Presentation</dc:title>
  <dc:subject>IIT, University of Dhaka — SPL-1 Project Proposal</dc:subject>
  <dc:creator>Raian Huq</dc:creator>
  <cp:keywords>CloneScope, code clone detection, stylometry, SPL-1, IIT DU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